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Inter"/>
      <p:regular r:id="rId22"/>
      <p:bold r:id="rId23"/>
      <p:italic r:id="rId24"/>
      <p:boldItalic r:id="rId25"/>
    </p:embeddedFont>
    <p:embeddedFont>
      <p:font typeface="Lato"/>
      <p:regular r:id="rId26"/>
      <p:bold r:id="rId27"/>
      <p:italic r:id="rId28"/>
      <p:boldItalic r:id="rId29"/>
    </p:embeddedFont>
    <p:embeddedFont>
      <p:font typeface="Roboto Mono"/>
      <p:regular r:id="rId30"/>
      <p:bold r:id="rId31"/>
      <p:italic r:id="rId32"/>
      <p:boldItalic r:id="rId33"/>
    </p:embeddedFont>
    <p:embeddedFont>
      <p:font typeface="Comfortaa Medium"/>
      <p:regular r:id="rId34"/>
      <p:bold r:id="rId35"/>
    </p:embeddedFont>
    <p:embeddedFont>
      <p:font typeface="Comfortaa"/>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nter-regular.fntdata"/><Relationship Id="rId21" Type="http://schemas.openxmlformats.org/officeDocument/2006/relationships/slide" Target="slides/slide16.xml"/><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Inter-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fntdata"/><Relationship Id="rId30" Type="http://schemas.openxmlformats.org/officeDocument/2006/relationships/font" Target="fonts/RobotoMono-regular.fntdata"/><Relationship Id="rId11" Type="http://schemas.openxmlformats.org/officeDocument/2006/relationships/slide" Target="slides/slide6.xml"/><Relationship Id="rId33" Type="http://schemas.openxmlformats.org/officeDocument/2006/relationships/font" Target="fonts/RobotoMono-boldItalic.fntdata"/><Relationship Id="rId10" Type="http://schemas.openxmlformats.org/officeDocument/2006/relationships/slide" Target="slides/slide5.xml"/><Relationship Id="rId32" Type="http://schemas.openxmlformats.org/officeDocument/2006/relationships/font" Target="fonts/RobotoMono-italic.fntdata"/><Relationship Id="rId13" Type="http://schemas.openxmlformats.org/officeDocument/2006/relationships/slide" Target="slides/slide8.xml"/><Relationship Id="rId35" Type="http://schemas.openxmlformats.org/officeDocument/2006/relationships/font" Target="fonts/ComfortaaMedium-bold.fntdata"/><Relationship Id="rId12" Type="http://schemas.openxmlformats.org/officeDocument/2006/relationships/slide" Target="slides/slide7.xml"/><Relationship Id="rId34" Type="http://schemas.openxmlformats.org/officeDocument/2006/relationships/font" Target="fonts/ComfortaaMedium-regular.fntdata"/><Relationship Id="rId15" Type="http://schemas.openxmlformats.org/officeDocument/2006/relationships/slide" Target="slides/slide10.xml"/><Relationship Id="rId37" Type="http://schemas.openxmlformats.org/officeDocument/2006/relationships/font" Target="fonts/Comfortaa-bold.fntdata"/><Relationship Id="rId14" Type="http://schemas.openxmlformats.org/officeDocument/2006/relationships/slide" Target="slides/slide9.xml"/><Relationship Id="rId36" Type="http://schemas.openxmlformats.org/officeDocument/2006/relationships/font" Target="fonts/Comfortaa-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5917207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d5917207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59172072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d59172072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d59172072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d59172072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591720726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591720726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d59172072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d59172072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d591720726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d591720726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591720726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d591720726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d591720726_3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d591720726_3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d591720726_3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d591720726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591720726_3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591720726_3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d591720726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d591720726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d591720726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d591720726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d591720726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d591720726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d591720726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d591720726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d59172072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d59172072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d591720726_3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d591720726_3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D966"/>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woogles.i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cxnSp>
        <p:nvCxnSpPr>
          <p:cNvPr id="361" name="Google Shape;361;p47"/>
          <p:cNvCxnSpPr/>
          <p:nvPr/>
        </p:nvCxnSpPr>
        <p:spPr>
          <a:xfrm>
            <a:off x="283850" y="1467534"/>
            <a:ext cx="5213100" cy="0"/>
          </a:xfrm>
          <a:prstGeom prst="straightConnector1">
            <a:avLst/>
          </a:prstGeom>
          <a:noFill/>
          <a:ln cap="flat" cmpd="sng" w="9525">
            <a:solidFill>
              <a:schemeClr val="lt1"/>
            </a:solidFill>
            <a:prstDash val="solid"/>
            <a:round/>
            <a:headEnd len="med" w="med" type="none"/>
            <a:tailEnd len="med" w="med" type="none"/>
          </a:ln>
        </p:spPr>
      </p:cxnSp>
      <p:cxnSp>
        <p:nvCxnSpPr>
          <p:cNvPr id="362" name="Google Shape;362;p47"/>
          <p:cNvCxnSpPr/>
          <p:nvPr/>
        </p:nvCxnSpPr>
        <p:spPr>
          <a:xfrm>
            <a:off x="283850" y="829634"/>
            <a:ext cx="5213100" cy="0"/>
          </a:xfrm>
          <a:prstGeom prst="straightConnector1">
            <a:avLst/>
          </a:prstGeom>
          <a:noFill/>
          <a:ln cap="flat" cmpd="sng" w="9525">
            <a:solidFill>
              <a:schemeClr val="lt1"/>
            </a:solidFill>
            <a:prstDash val="solid"/>
            <a:round/>
            <a:headEnd len="med" w="med" type="none"/>
            <a:tailEnd len="med" w="med" type="none"/>
          </a:ln>
        </p:spPr>
      </p:cxnSp>
      <p:sp>
        <p:nvSpPr>
          <p:cNvPr id="363" name="Google Shape;363;p47"/>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p>
            <a:pPr indent="0" lvl="0" marL="0" rtl="0" algn="l">
              <a:lnSpc>
                <a:spcPct val="100000"/>
              </a:lnSpc>
              <a:spcBef>
                <a:spcPts val="0"/>
              </a:spcBef>
              <a:spcAft>
                <a:spcPts val="0"/>
              </a:spcAft>
              <a:buClr>
                <a:schemeClr val="lt1"/>
              </a:buClr>
              <a:buSzPts val="1100"/>
              <a:buFont typeface="Arial"/>
              <a:buNone/>
            </a:pPr>
            <a:r>
              <a:rPr b="1" lang="en" sz="2600">
                <a:solidFill>
                  <a:srgbClr val="00796B"/>
                </a:solidFill>
                <a:latin typeface="Lato"/>
                <a:ea typeface="Lato"/>
                <a:cs typeface="Lato"/>
                <a:sym typeface="Lato"/>
              </a:rPr>
              <a:t>Group 59 </a:t>
            </a:r>
            <a:endParaRPr b="1" sz="2600">
              <a:solidFill>
                <a:srgbClr val="00796B"/>
              </a:solidFill>
              <a:latin typeface="Lato"/>
              <a:ea typeface="Lato"/>
              <a:cs typeface="Lato"/>
              <a:sym typeface="Lato"/>
            </a:endParaRPr>
          </a:p>
          <a:p>
            <a:pPr indent="0" lvl="0" marL="0" rtl="0" algn="l">
              <a:lnSpc>
                <a:spcPct val="100000"/>
              </a:lnSpc>
              <a:spcBef>
                <a:spcPts val="0"/>
              </a:spcBef>
              <a:spcAft>
                <a:spcPts val="0"/>
              </a:spcAft>
              <a:buClr>
                <a:schemeClr val="lt1"/>
              </a:buClr>
              <a:buSzPts val="1100"/>
              <a:buFont typeface="Arial"/>
              <a:buNone/>
            </a:pPr>
            <a:r>
              <a:t/>
            </a:r>
            <a:endParaRPr sz="1700">
              <a:solidFill>
                <a:srgbClr val="00796B"/>
              </a:solidFill>
              <a:latin typeface="Lato"/>
              <a:ea typeface="Lato"/>
              <a:cs typeface="Lato"/>
              <a:sym typeface="Lato"/>
            </a:endParaRPr>
          </a:p>
          <a:p>
            <a:pPr indent="0" lvl="0" marL="0" rtl="0" algn="l">
              <a:lnSpc>
                <a:spcPct val="100000"/>
              </a:lnSpc>
              <a:spcBef>
                <a:spcPts val="0"/>
              </a:spcBef>
              <a:spcAft>
                <a:spcPts val="0"/>
              </a:spcAft>
              <a:buClr>
                <a:schemeClr val="lt1"/>
              </a:buClr>
              <a:buSzPts val="1100"/>
              <a:buFont typeface="Arial"/>
              <a:buNone/>
            </a:pPr>
            <a:r>
              <a:rPr b="1" lang="en" sz="2700">
                <a:solidFill>
                  <a:srgbClr val="00796B"/>
                </a:solidFill>
                <a:latin typeface="Lato"/>
                <a:ea typeface="Lato"/>
                <a:cs typeface="Lato"/>
                <a:sym typeface="Lato"/>
              </a:rPr>
              <a:t>Scrabble Player Rating</a:t>
            </a:r>
            <a:endParaRPr b="1" sz="2700">
              <a:solidFill>
                <a:srgbClr val="00796B"/>
              </a:solidFill>
              <a:latin typeface="Lato"/>
              <a:ea typeface="Lato"/>
              <a:cs typeface="Lato"/>
              <a:sym typeface="Lato"/>
            </a:endParaRPr>
          </a:p>
          <a:p>
            <a:pPr indent="0" lvl="0" marL="0" rtl="0" algn="l">
              <a:lnSpc>
                <a:spcPct val="100000"/>
              </a:lnSpc>
              <a:spcBef>
                <a:spcPts val="0"/>
              </a:spcBef>
              <a:spcAft>
                <a:spcPts val="0"/>
              </a:spcAft>
              <a:buClr>
                <a:schemeClr val="lt1"/>
              </a:buClr>
              <a:buSzPts val="1100"/>
              <a:buFont typeface="Arial"/>
              <a:buNone/>
            </a:pPr>
            <a:r>
              <a:t/>
            </a:r>
            <a:endParaRPr b="1" sz="2700">
              <a:solidFill>
                <a:srgbClr val="00796B"/>
              </a:solidFill>
              <a:latin typeface="Lato"/>
              <a:ea typeface="Lato"/>
              <a:cs typeface="Lato"/>
              <a:sym typeface="Lato"/>
            </a:endParaRPr>
          </a:p>
          <a:p>
            <a:pPr indent="0" lvl="0" marL="0" rtl="0" algn="l">
              <a:lnSpc>
                <a:spcPct val="100000"/>
              </a:lnSpc>
              <a:spcBef>
                <a:spcPts val="0"/>
              </a:spcBef>
              <a:spcAft>
                <a:spcPts val="0"/>
              </a:spcAft>
              <a:buClr>
                <a:schemeClr val="lt1"/>
              </a:buClr>
              <a:buSzPts val="1100"/>
              <a:buFont typeface="Arial"/>
              <a:buNone/>
            </a:pPr>
            <a:r>
              <a:rPr b="1" lang="en" sz="2700" u="sng">
                <a:solidFill>
                  <a:srgbClr val="23272A"/>
                </a:solidFill>
                <a:latin typeface="Lato"/>
                <a:ea typeface="Lato"/>
                <a:cs typeface="Lato"/>
                <a:sym typeface="Lato"/>
              </a:rPr>
              <a:t>Members : </a:t>
            </a:r>
            <a:endParaRPr b="1" sz="2700" u="sng">
              <a:solidFill>
                <a:srgbClr val="23272A"/>
              </a:solidFill>
              <a:latin typeface="Lato"/>
              <a:ea typeface="Lato"/>
              <a:cs typeface="Lato"/>
              <a:sym typeface="Lato"/>
            </a:endParaRPr>
          </a:p>
          <a:p>
            <a:pPr indent="0" lvl="0" marL="0" rtl="0" algn="l">
              <a:lnSpc>
                <a:spcPct val="100000"/>
              </a:lnSpc>
              <a:spcBef>
                <a:spcPts val="0"/>
              </a:spcBef>
              <a:spcAft>
                <a:spcPts val="0"/>
              </a:spcAft>
              <a:buClr>
                <a:schemeClr val="lt1"/>
              </a:buClr>
              <a:buSzPts val="1100"/>
              <a:buFont typeface="Arial"/>
              <a:buNone/>
            </a:pPr>
            <a:r>
              <a:t/>
            </a:r>
            <a:endParaRPr b="1" sz="2700">
              <a:solidFill>
                <a:srgbClr val="23272A"/>
              </a:solidFill>
              <a:latin typeface="Lato"/>
              <a:ea typeface="Lato"/>
              <a:cs typeface="Lato"/>
              <a:sym typeface="Lato"/>
            </a:endParaRPr>
          </a:p>
          <a:p>
            <a:pPr indent="-393700" lvl="0" marL="457200" rtl="0" algn="l">
              <a:lnSpc>
                <a:spcPct val="100000"/>
              </a:lnSpc>
              <a:spcBef>
                <a:spcPts val="0"/>
              </a:spcBef>
              <a:spcAft>
                <a:spcPts val="0"/>
              </a:spcAft>
              <a:buClr>
                <a:srgbClr val="23272A"/>
              </a:buClr>
              <a:buSzPts val="2600"/>
              <a:buFont typeface="Lato"/>
              <a:buAutoNum type="arabicPeriod"/>
            </a:pPr>
            <a:r>
              <a:rPr b="1" lang="en" sz="2600">
                <a:solidFill>
                  <a:srgbClr val="23272A"/>
                </a:solidFill>
                <a:latin typeface="Lato"/>
                <a:ea typeface="Lato"/>
                <a:cs typeface="Lato"/>
                <a:sym typeface="Lato"/>
              </a:rPr>
              <a:t>Chaitanya Singh (B24CS1088)</a:t>
            </a:r>
            <a:endParaRPr b="1" sz="2600">
              <a:solidFill>
                <a:srgbClr val="23272A"/>
              </a:solidFill>
              <a:latin typeface="Lato"/>
              <a:ea typeface="Lato"/>
              <a:cs typeface="Lato"/>
              <a:sym typeface="Lato"/>
            </a:endParaRPr>
          </a:p>
          <a:p>
            <a:pPr indent="-393700" lvl="0" marL="457200" rtl="0" algn="l">
              <a:lnSpc>
                <a:spcPct val="100000"/>
              </a:lnSpc>
              <a:spcBef>
                <a:spcPts val="0"/>
              </a:spcBef>
              <a:spcAft>
                <a:spcPts val="0"/>
              </a:spcAft>
              <a:buClr>
                <a:srgbClr val="23272A"/>
              </a:buClr>
              <a:buSzPts val="2600"/>
              <a:buFont typeface="Lato"/>
              <a:buAutoNum type="arabicPeriod"/>
            </a:pPr>
            <a:r>
              <a:rPr b="1" lang="en" sz="2600">
                <a:solidFill>
                  <a:srgbClr val="23272A"/>
                </a:solidFill>
                <a:latin typeface="Lato"/>
                <a:ea typeface="Lato"/>
                <a:cs typeface="Lato"/>
                <a:sym typeface="Lato"/>
              </a:rPr>
              <a:t>Kinjal Choudhary (B24EE1035)</a:t>
            </a:r>
            <a:endParaRPr b="1" sz="2600">
              <a:solidFill>
                <a:srgbClr val="23272A"/>
              </a:solidFill>
              <a:latin typeface="Lato"/>
              <a:ea typeface="Lato"/>
              <a:cs typeface="Lato"/>
              <a:sym typeface="Lato"/>
            </a:endParaRPr>
          </a:p>
          <a:p>
            <a:pPr indent="-393700" lvl="0" marL="457200" rtl="0" algn="l">
              <a:lnSpc>
                <a:spcPct val="100000"/>
              </a:lnSpc>
              <a:spcBef>
                <a:spcPts val="0"/>
              </a:spcBef>
              <a:spcAft>
                <a:spcPts val="0"/>
              </a:spcAft>
              <a:buClr>
                <a:srgbClr val="23272A"/>
              </a:buClr>
              <a:buSzPts val="2600"/>
              <a:buFont typeface="Lato"/>
              <a:buAutoNum type="arabicPeriod"/>
            </a:pPr>
            <a:r>
              <a:rPr b="1" lang="en" sz="2600">
                <a:solidFill>
                  <a:srgbClr val="23272A"/>
                </a:solidFill>
                <a:latin typeface="Lato"/>
                <a:ea typeface="Lato"/>
                <a:cs typeface="Lato"/>
                <a:sym typeface="Lato"/>
              </a:rPr>
              <a:t>Meet Kiyada (B24EE1036)</a:t>
            </a:r>
            <a:endParaRPr b="1" sz="2600">
              <a:solidFill>
                <a:srgbClr val="23272A"/>
              </a:solidFill>
              <a:latin typeface="Lato"/>
              <a:ea typeface="Lato"/>
              <a:cs typeface="Lato"/>
              <a:sym typeface="Lato"/>
            </a:endParaRPr>
          </a:p>
          <a:p>
            <a:pPr indent="-393700" lvl="0" marL="457200" rtl="0" algn="l">
              <a:lnSpc>
                <a:spcPct val="100000"/>
              </a:lnSpc>
              <a:spcBef>
                <a:spcPts val="0"/>
              </a:spcBef>
              <a:spcAft>
                <a:spcPts val="0"/>
              </a:spcAft>
              <a:buClr>
                <a:srgbClr val="23272A"/>
              </a:buClr>
              <a:buSzPts val="2600"/>
              <a:buFont typeface="Lato"/>
              <a:buAutoNum type="arabicPeriod"/>
            </a:pPr>
            <a:r>
              <a:rPr b="1" lang="en" sz="2600">
                <a:solidFill>
                  <a:srgbClr val="23272A"/>
                </a:solidFill>
                <a:latin typeface="Lato"/>
                <a:ea typeface="Lato"/>
                <a:cs typeface="Lato"/>
                <a:sym typeface="Lato"/>
              </a:rPr>
              <a:t>Ankit Vaniya (B24CM1064)</a:t>
            </a:r>
            <a:endParaRPr b="1" sz="2600">
              <a:solidFill>
                <a:srgbClr val="23272A"/>
              </a:solidFill>
              <a:latin typeface="Lato"/>
              <a:ea typeface="Lato"/>
              <a:cs typeface="Lato"/>
              <a:sym typeface="Lato"/>
            </a:endParaRPr>
          </a:p>
          <a:p>
            <a:pPr indent="0" lvl="0" marL="0" rtl="0" algn="l">
              <a:lnSpc>
                <a:spcPct val="100000"/>
              </a:lnSpc>
              <a:spcBef>
                <a:spcPts val="0"/>
              </a:spcBef>
              <a:spcAft>
                <a:spcPts val="0"/>
              </a:spcAft>
              <a:buClr>
                <a:schemeClr val="lt1"/>
              </a:buClr>
              <a:buSzPts val="1100"/>
              <a:buFont typeface="Arial"/>
              <a:buNone/>
            </a:pPr>
            <a:r>
              <a:t/>
            </a:r>
            <a:endParaRPr sz="1700">
              <a:solidFill>
                <a:srgbClr val="00796B"/>
              </a:solidFill>
              <a:latin typeface="Lato"/>
              <a:ea typeface="Lato"/>
              <a:cs typeface="Lato"/>
              <a:sym typeface="Lato"/>
            </a:endParaRPr>
          </a:p>
          <a:p>
            <a:pPr indent="0" lvl="0" marL="0" rtl="0" algn="l">
              <a:lnSpc>
                <a:spcPct val="100000"/>
              </a:lnSpc>
              <a:spcBef>
                <a:spcPts val="0"/>
              </a:spcBef>
              <a:spcAft>
                <a:spcPts val="0"/>
              </a:spcAft>
              <a:buClr>
                <a:schemeClr val="lt1"/>
              </a:buClr>
              <a:buSzPts val="1100"/>
              <a:buFont typeface="Arial"/>
              <a:buNone/>
            </a:pPr>
            <a:r>
              <a:t/>
            </a:r>
            <a:endParaRPr sz="1700">
              <a:solidFill>
                <a:srgbClr val="00796B"/>
              </a:solidFill>
              <a:latin typeface="Lato"/>
              <a:ea typeface="Lato"/>
              <a:cs typeface="Lato"/>
              <a:sym typeface="Lato"/>
            </a:endParaRPr>
          </a:p>
          <a:p>
            <a:pPr indent="0" lvl="0" marL="0" rtl="0" algn="l">
              <a:spcBef>
                <a:spcPts val="0"/>
              </a:spcBef>
              <a:spcAft>
                <a:spcPts val="0"/>
              </a:spcAft>
              <a:buNone/>
            </a:pPr>
            <a:r>
              <a:t/>
            </a:r>
            <a:endParaRPr/>
          </a:p>
        </p:txBody>
      </p:sp>
      <p:cxnSp>
        <p:nvCxnSpPr>
          <p:cNvPr id="364" name="Google Shape;364;p47"/>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8"/>
          <p:cNvSpPr txBox="1"/>
          <p:nvPr>
            <p:ph type="title"/>
          </p:nvPr>
        </p:nvSpPr>
        <p:spPr>
          <a:xfrm>
            <a:off x="1234200" y="642350"/>
            <a:ext cx="6675600" cy="548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5000" u="sng">
                <a:solidFill>
                  <a:srgbClr val="00796B"/>
                </a:solidFill>
                <a:latin typeface="Comfortaa Medium"/>
                <a:ea typeface="Comfortaa Medium"/>
                <a:cs typeface="Comfortaa Medium"/>
                <a:sym typeface="Comfortaa Medium"/>
              </a:rPr>
              <a:t>Problem Statement</a:t>
            </a:r>
            <a:endParaRPr sz="5000" u="sng">
              <a:solidFill>
                <a:srgbClr val="00796B"/>
              </a:solidFill>
              <a:latin typeface="Comfortaa Medium"/>
              <a:ea typeface="Comfortaa Medium"/>
              <a:cs typeface="Comfortaa Medium"/>
              <a:sym typeface="Comfortaa Medium"/>
            </a:endParaRPr>
          </a:p>
        </p:txBody>
      </p:sp>
      <p:cxnSp>
        <p:nvCxnSpPr>
          <p:cNvPr id="370" name="Google Shape;370;p48"/>
          <p:cNvCxnSpPr/>
          <p:nvPr/>
        </p:nvCxnSpPr>
        <p:spPr>
          <a:xfrm>
            <a:off x="283850" y="289571"/>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71" name="Google Shape;371;p48"/>
          <p:cNvCxnSpPr/>
          <p:nvPr/>
        </p:nvCxnSpPr>
        <p:spPr>
          <a:xfrm>
            <a:off x="225525" y="4552875"/>
            <a:ext cx="8573100" cy="0"/>
          </a:xfrm>
          <a:prstGeom prst="straightConnector1">
            <a:avLst/>
          </a:prstGeom>
          <a:noFill/>
          <a:ln cap="flat" cmpd="sng" w="9525">
            <a:solidFill>
              <a:schemeClr val="lt1"/>
            </a:solidFill>
            <a:prstDash val="solid"/>
            <a:round/>
            <a:headEnd len="med" w="med" type="none"/>
            <a:tailEnd len="med" w="med" type="none"/>
          </a:ln>
        </p:spPr>
      </p:cxnSp>
      <p:sp>
        <p:nvSpPr>
          <p:cNvPr id="372" name="Google Shape;372;p48"/>
          <p:cNvSpPr txBox="1"/>
          <p:nvPr>
            <p:ph idx="1" type="body"/>
          </p:nvPr>
        </p:nvSpPr>
        <p:spPr>
          <a:xfrm>
            <a:off x="870050" y="1440650"/>
            <a:ext cx="7400700" cy="2608200"/>
          </a:xfrm>
          <a:prstGeom prst="rect">
            <a:avLst/>
          </a:prstGeom>
        </p:spPr>
        <p:txBody>
          <a:bodyPr anchorCtr="0" anchor="t" bIns="91425" lIns="182875" spcFirstLastPara="1" rIns="182875" wrap="square" tIns="91425">
            <a:noAutofit/>
          </a:bodyPr>
          <a:lstStyle/>
          <a:p>
            <a:pPr indent="-323850" lvl="0" marL="457200" rtl="0" algn="l">
              <a:spcBef>
                <a:spcPts val="0"/>
              </a:spcBef>
              <a:spcAft>
                <a:spcPts val="0"/>
              </a:spcAft>
              <a:buClr>
                <a:srgbClr val="000000"/>
              </a:buClr>
              <a:buSzPts val="1500"/>
              <a:buChar char="●"/>
            </a:pPr>
            <a:r>
              <a:rPr b="1" lang="en" sz="1500" u="sng">
                <a:latin typeface="Arial"/>
                <a:ea typeface="Arial"/>
                <a:cs typeface="Arial"/>
                <a:sym typeface="Arial"/>
              </a:rPr>
              <a:t>The Objective</a:t>
            </a:r>
            <a:r>
              <a:rPr b="1" lang="en" sz="1500">
                <a:latin typeface="Arial"/>
                <a:ea typeface="Arial"/>
                <a:cs typeface="Arial"/>
                <a:sym typeface="Arial"/>
              </a:rPr>
              <a:t>:</a:t>
            </a:r>
            <a:r>
              <a:rPr lang="en" sz="1500">
                <a:latin typeface="Arial"/>
                <a:ea typeface="Arial"/>
                <a:cs typeface="Arial"/>
                <a:sym typeface="Arial"/>
              </a:rPr>
              <a:t> Our primary goal is to develop a robust machine learning pipeline capable of predicting the Elo rating of human players in Scrabble games hosted on the </a:t>
            </a:r>
            <a:r>
              <a:rPr lang="en" sz="1500" u="sng">
                <a:solidFill>
                  <a:schemeClr val="hlink"/>
                </a:solidFill>
                <a:latin typeface="Arial"/>
                <a:ea typeface="Arial"/>
                <a:cs typeface="Arial"/>
                <a:sym typeface="Arial"/>
                <a:hlinkClick r:id="rId3"/>
              </a:rPr>
              <a:t>Woogles.io</a:t>
            </a:r>
            <a:r>
              <a:rPr lang="en" sz="1500">
                <a:latin typeface="Arial"/>
                <a:ea typeface="Arial"/>
                <a:cs typeface="Arial"/>
                <a:sym typeface="Arial"/>
              </a:rPr>
              <a:t> platform.</a:t>
            </a:r>
            <a:endParaRPr sz="1500">
              <a:latin typeface="Arial"/>
              <a:ea typeface="Arial"/>
              <a:cs typeface="Arial"/>
              <a:sym typeface="Arial"/>
            </a:endParaRPr>
          </a:p>
          <a:p>
            <a:pPr indent="0" lvl="0" marL="0" rtl="0" algn="l">
              <a:spcBef>
                <a:spcPts val="0"/>
              </a:spcBef>
              <a:spcAft>
                <a:spcPts val="0"/>
              </a:spcAft>
              <a:buNone/>
            </a:pPr>
            <a:r>
              <a:t/>
            </a:r>
            <a:endParaRPr sz="1500">
              <a:latin typeface="Arial"/>
              <a:ea typeface="Arial"/>
              <a:cs typeface="Arial"/>
              <a:sym typeface="Arial"/>
            </a:endParaRPr>
          </a:p>
          <a:p>
            <a:pPr indent="-323850" lvl="0" marL="457200" rtl="0" algn="l">
              <a:spcBef>
                <a:spcPts val="0"/>
              </a:spcBef>
              <a:spcAft>
                <a:spcPts val="0"/>
              </a:spcAft>
              <a:buClr>
                <a:srgbClr val="000000"/>
              </a:buClr>
              <a:buSzPts val="1500"/>
              <a:buChar char="●"/>
            </a:pPr>
            <a:r>
              <a:rPr b="1" lang="en" sz="1500" u="sng">
                <a:latin typeface="Arial"/>
                <a:ea typeface="Arial"/>
                <a:cs typeface="Arial"/>
                <a:sym typeface="Arial"/>
              </a:rPr>
              <a:t>The Importance of Skill Estimation</a:t>
            </a:r>
            <a:r>
              <a:rPr b="1" lang="en" sz="1500">
                <a:latin typeface="Arial"/>
                <a:ea typeface="Arial"/>
                <a:cs typeface="Arial"/>
                <a:sym typeface="Arial"/>
              </a:rPr>
              <a:t>:</a:t>
            </a:r>
            <a:r>
              <a:rPr lang="en" sz="1500">
                <a:latin typeface="Arial"/>
                <a:ea typeface="Arial"/>
                <a:cs typeface="Arial"/>
                <a:sym typeface="Arial"/>
              </a:rPr>
              <a:t> Accurate rating prediction is crucial for maintaining fair matchmaking systems, tracking player improvement over time, and identifying potential anomalies or 'sandbagging' in competitive play.</a:t>
            </a:r>
            <a:endParaRPr sz="1500">
              <a:latin typeface="Arial"/>
              <a:ea typeface="Arial"/>
              <a:cs typeface="Arial"/>
              <a:sym typeface="Arial"/>
            </a:endParaRPr>
          </a:p>
          <a:p>
            <a:pPr indent="0" lvl="0" marL="457200" rtl="0" algn="l">
              <a:spcBef>
                <a:spcPts val="0"/>
              </a:spcBef>
              <a:spcAft>
                <a:spcPts val="0"/>
              </a:spcAft>
              <a:buNone/>
            </a:pPr>
            <a:r>
              <a:t/>
            </a:r>
            <a:endParaRPr sz="1500">
              <a:latin typeface="Arial"/>
              <a:ea typeface="Arial"/>
              <a:cs typeface="Arial"/>
              <a:sym typeface="Arial"/>
            </a:endParaRPr>
          </a:p>
          <a:p>
            <a:pPr indent="-323850" lvl="0" marL="457200" rtl="0" algn="l">
              <a:spcBef>
                <a:spcPts val="0"/>
              </a:spcBef>
              <a:spcAft>
                <a:spcPts val="0"/>
              </a:spcAft>
              <a:buClr>
                <a:srgbClr val="000000"/>
              </a:buClr>
              <a:buSzPts val="1500"/>
              <a:buChar char="●"/>
            </a:pPr>
            <a:r>
              <a:rPr b="1" lang="en" sz="1500" u="sng">
                <a:latin typeface="Arial"/>
                <a:ea typeface="Arial"/>
                <a:cs typeface="Arial"/>
                <a:sym typeface="Arial"/>
              </a:rPr>
              <a:t>Predictive Context</a:t>
            </a:r>
            <a:r>
              <a:rPr b="1" lang="en" sz="1500">
                <a:latin typeface="Arial"/>
                <a:ea typeface="Arial"/>
                <a:cs typeface="Arial"/>
                <a:sym typeface="Arial"/>
              </a:rPr>
              <a:t>:</a:t>
            </a:r>
            <a:r>
              <a:rPr lang="en" sz="1500">
                <a:latin typeface="Arial"/>
                <a:ea typeface="Arial"/>
                <a:cs typeface="Arial"/>
                <a:sym typeface="Arial"/>
              </a:rPr>
              <a:t> Unlike many games where outcome is the only metric, Scrabble offers rich, turn-level data that reflects a player's strategic depth, vocabulary, and ability to manage resources (tiles).</a:t>
            </a:r>
            <a:endParaRPr sz="1500">
              <a:solidFill>
                <a:srgbClr val="000000"/>
              </a:solidFill>
            </a:endParaRPr>
          </a:p>
          <a:p>
            <a:pPr indent="0" lvl="0" marL="0" rtl="0" algn="l">
              <a:spcBef>
                <a:spcPts val="0"/>
              </a:spcBef>
              <a:spcAft>
                <a:spcPts val="0"/>
              </a:spcAft>
              <a:buNone/>
            </a:pPr>
            <a:r>
              <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9"/>
          <p:cNvSpPr txBox="1"/>
          <p:nvPr>
            <p:ph type="title"/>
          </p:nvPr>
        </p:nvSpPr>
        <p:spPr>
          <a:xfrm>
            <a:off x="301450" y="642823"/>
            <a:ext cx="8431200" cy="7491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lt1"/>
              </a:buClr>
              <a:buSzPts val="1100"/>
              <a:buFont typeface="Arial"/>
              <a:buNone/>
            </a:pPr>
            <a:r>
              <a:rPr lang="en" sz="5000" u="sng">
                <a:solidFill>
                  <a:srgbClr val="00796B"/>
                </a:solidFill>
                <a:latin typeface="Comfortaa Medium"/>
                <a:ea typeface="Comfortaa Medium"/>
                <a:cs typeface="Comfortaa Medium"/>
                <a:sym typeface="Comfortaa Medium"/>
              </a:rPr>
              <a:t>Problem Statement</a:t>
            </a:r>
            <a:endParaRPr sz="5000" u="sng">
              <a:solidFill>
                <a:srgbClr val="00796B"/>
              </a:solidFill>
              <a:latin typeface="Comfortaa Medium"/>
              <a:ea typeface="Comfortaa Medium"/>
              <a:cs typeface="Comfortaa Medium"/>
              <a:sym typeface="Comfortaa Medium"/>
            </a:endParaRPr>
          </a:p>
          <a:p>
            <a:pPr indent="0" lvl="0" marL="0" rtl="0" algn="ctr">
              <a:spcBef>
                <a:spcPts val="0"/>
              </a:spcBef>
              <a:spcAft>
                <a:spcPts val="0"/>
              </a:spcAft>
              <a:buNone/>
            </a:pPr>
            <a:r>
              <a:t/>
            </a:r>
            <a:endParaRPr sz="5000" u="sng">
              <a:latin typeface="Comfortaa Medium"/>
              <a:ea typeface="Comfortaa Medium"/>
              <a:cs typeface="Comfortaa Medium"/>
              <a:sym typeface="Comfortaa Medium"/>
            </a:endParaRPr>
          </a:p>
        </p:txBody>
      </p:sp>
      <p:sp>
        <p:nvSpPr>
          <p:cNvPr id="378" name="Google Shape;378;p49"/>
          <p:cNvSpPr txBox="1"/>
          <p:nvPr>
            <p:ph idx="1" type="body"/>
          </p:nvPr>
        </p:nvSpPr>
        <p:spPr>
          <a:xfrm>
            <a:off x="763780" y="2197902"/>
            <a:ext cx="7283100" cy="1559700"/>
          </a:xfrm>
          <a:prstGeom prst="rect">
            <a:avLst/>
          </a:prstGeom>
        </p:spPr>
        <p:txBody>
          <a:bodyPr anchorCtr="0" anchor="t" bIns="91425" lIns="182875" spcFirstLastPara="1" rIns="182875" wrap="square" tIns="91425">
            <a:noAutofit/>
          </a:bodyPr>
          <a:lstStyle/>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solidFill>
                <a:srgbClr val="000000"/>
              </a:solidFill>
            </a:endParaRPr>
          </a:p>
        </p:txBody>
      </p:sp>
      <p:cxnSp>
        <p:nvCxnSpPr>
          <p:cNvPr id="379" name="Google Shape;379;p49"/>
          <p:cNvCxnSpPr/>
          <p:nvPr/>
        </p:nvCxnSpPr>
        <p:spPr>
          <a:xfrm>
            <a:off x="285458" y="285896"/>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80" name="Google Shape;380;p49"/>
          <p:cNvCxnSpPr/>
          <p:nvPr/>
        </p:nvCxnSpPr>
        <p:spPr>
          <a:xfrm>
            <a:off x="285450" y="4582650"/>
            <a:ext cx="8573100" cy="0"/>
          </a:xfrm>
          <a:prstGeom prst="straightConnector1">
            <a:avLst/>
          </a:prstGeom>
          <a:noFill/>
          <a:ln cap="flat" cmpd="sng" w="9525">
            <a:solidFill>
              <a:schemeClr val="lt1"/>
            </a:solidFill>
            <a:prstDash val="solid"/>
            <a:round/>
            <a:headEnd len="med" w="med" type="none"/>
            <a:tailEnd len="med" w="med" type="none"/>
          </a:ln>
        </p:spPr>
      </p:cxnSp>
      <p:sp>
        <p:nvSpPr>
          <p:cNvPr id="381" name="Google Shape;381;p49"/>
          <p:cNvSpPr txBox="1"/>
          <p:nvPr/>
        </p:nvSpPr>
        <p:spPr>
          <a:xfrm>
            <a:off x="571300" y="1649325"/>
            <a:ext cx="7891500" cy="2385000"/>
          </a:xfrm>
          <a:prstGeom prst="rect">
            <a:avLst/>
          </a:prstGeom>
          <a:noFill/>
          <a:ln>
            <a:noFill/>
          </a:ln>
        </p:spPr>
        <p:txBody>
          <a:bodyPr anchorCtr="0" anchor="t" bIns="91425" lIns="91425" spcFirstLastPara="1" rIns="91425" wrap="square" tIns="91425">
            <a:noAutofit/>
          </a:bodyPr>
          <a:lstStyle/>
          <a:p>
            <a:pPr indent="-323850" lvl="0" marL="457200" rtl="0" algn="l">
              <a:spcBef>
                <a:spcPts val="900"/>
              </a:spcBef>
              <a:spcAft>
                <a:spcPts val="0"/>
              </a:spcAft>
              <a:buClr>
                <a:srgbClr val="23272A"/>
              </a:buClr>
              <a:buSzPts val="1500"/>
              <a:buFont typeface="Calibri"/>
              <a:buChar char="●"/>
            </a:pPr>
            <a:r>
              <a:rPr b="1" lang="en" sz="1500" u="sng">
                <a:solidFill>
                  <a:schemeClr val="lt1"/>
                </a:solidFill>
              </a:rPr>
              <a:t>The Challenge of Identity vs. Performance</a:t>
            </a:r>
            <a:r>
              <a:rPr b="1" lang="en" sz="1500">
                <a:solidFill>
                  <a:schemeClr val="lt1"/>
                </a:solidFill>
              </a:rPr>
              <a:t>:</a:t>
            </a:r>
            <a:r>
              <a:rPr lang="en" sz="1500">
                <a:solidFill>
                  <a:schemeClr val="lt1"/>
                </a:solidFill>
              </a:rPr>
              <a:t> A major hurdle is balancing 'who the player is' (historical rating/nickname) with 'how they played in this specific game.' High-rated players occasionally play poorly, and vice versa.</a:t>
            </a:r>
            <a:endParaRPr sz="1500">
              <a:solidFill>
                <a:schemeClr val="lt1"/>
              </a:solidFill>
            </a:endParaRPr>
          </a:p>
          <a:p>
            <a:pPr indent="-323850" lvl="0" marL="457200" rtl="0" algn="l">
              <a:spcBef>
                <a:spcPts val="0"/>
              </a:spcBef>
              <a:spcAft>
                <a:spcPts val="0"/>
              </a:spcAft>
              <a:buClr>
                <a:srgbClr val="23272A"/>
              </a:buClr>
              <a:buSzPts val="1500"/>
              <a:buFont typeface="Calibri"/>
              <a:buChar char="●"/>
            </a:pPr>
            <a:r>
              <a:rPr b="1" lang="en" sz="1500" u="sng">
                <a:solidFill>
                  <a:schemeClr val="lt1"/>
                </a:solidFill>
              </a:rPr>
              <a:t>Target Variable</a:t>
            </a:r>
            <a:r>
              <a:rPr b="1" lang="en" sz="1500">
                <a:solidFill>
                  <a:schemeClr val="lt1"/>
                </a:solidFill>
              </a:rPr>
              <a:t>:</a:t>
            </a:r>
            <a:r>
              <a:rPr lang="en" sz="1500">
                <a:solidFill>
                  <a:schemeClr val="lt1"/>
                </a:solidFill>
              </a:rPr>
              <a:t> The model specifically targets </a:t>
            </a:r>
            <a:r>
              <a:rPr lang="en" sz="1500">
                <a:solidFill>
                  <a:srgbClr val="188038"/>
                </a:solidFill>
                <a:latin typeface="Roboto Mono"/>
                <a:ea typeface="Roboto Mono"/>
                <a:cs typeface="Roboto Mono"/>
                <a:sym typeface="Roboto Mono"/>
              </a:rPr>
              <a:t>human_rating</a:t>
            </a:r>
            <a:r>
              <a:rPr lang="en" sz="1500">
                <a:solidFill>
                  <a:schemeClr val="lt1"/>
                </a:solidFill>
              </a:rPr>
              <a:t>, which ranges significantly across the dataset, requiring high precision in regression.</a:t>
            </a:r>
            <a:endParaRPr sz="1500">
              <a:solidFill>
                <a:schemeClr val="lt1"/>
              </a:solidFill>
            </a:endParaRPr>
          </a:p>
          <a:p>
            <a:pPr indent="-323850" lvl="0" marL="457200" rtl="0" algn="l">
              <a:spcBef>
                <a:spcPts val="0"/>
              </a:spcBef>
              <a:spcAft>
                <a:spcPts val="0"/>
              </a:spcAft>
              <a:buClr>
                <a:srgbClr val="23272A"/>
              </a:buClr>
              <a:buSzPts val="1500"/>
              <a:buFont typeface="Calibri"/>
              <a:buChar char="●"/>
            </a:pPr>
            <a:r>
              <a:rPr b="1" lang="en" sz="1500" u="sng">
                <a:solidFill>
                  <a:schemeClr val="lt1"/>
                </a:solidFill>
              </a:rPr>
              <a:t>Evaluation Metrics</a:t>
            </a:r>
            <a:r>
              <a:rPr b="1" lang="en" sz="1500">
                <a:solidFill>
                  <a:schemeClr val="lt1"/>
                </a:solidFill>
              </a:rPr>
              <a:t>:</a:t>
            </a:r>
            <a:r>
              <a:rPr lang="en" sz="1500">
                <a:solidFill>
                  <a:schemeClr val="lt1"/>
                </a:solidFill>
              </a:rPr>
              <a:t> We prioritize </a:t>
            </a:r>
            <a:r>
              <a:rPr b="1" lang="en" sz="1500">
                <a:solidFill>
                  <a:schemeClr val="lt1"/>
                </a:solidFill>
              </a:rPr>
              <a:t>RMSE</a:t>
            </a:r>
            <a:r>
              <a:rPr lang="en" sz="1500">
                <a:solidFill>
                  <a:schemeClr val="lt1"/>
                </a:solidFill>
              </a:rPr>
              <a:t> (Root Mean Squared Error) to penalize large outliers and </a:t>
            </a:r>
            <a:r>
              <a:rPr b="1" lang="en" sz="1500">
                <a:solidFill>
                  <a:schemeClr val="lt1"/>
                </a:solidFill>
              </a:rPr>
              <a:t>MAE</a:t>
            </a:r>
            <a:r>
              <a:rPr lang="en" sz="1500">
                <a:solidFill>
                  <a:schemeClr val="lt1"/>
                </a:solidFill>
              </a:rPr>
              <a:t> (Mean Absolute Error) for overall interpretability.</a:t>
            </a:r>
            <a:endParaRPr sz="1500">
              <a:solidFill>
                <a:schemeClr val="lt1"/>
              </a:solidFill>
            </a:endParaRPr>
          </a:p>
          <a:p>
            <a:pPr indent="-323850" lvl="0" marL="457200" rtl="0" algn="l">
              <a:spcBef>
                <a:spcPts val="0"/>
              </a:spcBef>
              <a:spcAft>
                <a:spcPts val="0"/>
              </a:spcAft>
              <a:buClr>
                <a:srgbClr val="23272A"/>
              </a:buClr>
              <a:buSzPts val="1500"/>
              <a:buFont typeface="Calibri"/>
              <a:buChar char="●"/>
            </a:pPr>
            <a:r>
              <a:rPr b="1" lang="en" sz="1500" u="sng">
                <a:solidFill>
                  <a:schemeClr val="lt1"/>
                </a:solidFill>
              </a:rPr>
              <a:t>Validation Strategy</a:t>
            </a:r>
            <a:r>
              <a:rPr b="1" lang="en" sz="1500">
                <a:solidFill>
                  <a:schemeClr val="lt1"/>
                </a:solidFill>
              </a:rPr>
              <a:t>:</a:t>
            </a:r>
            <a:r>
              <a:rPr lang="en" sz="1500">
                <a:solidFill>
                  <a:schemeClr val="lt1"/>
                </a:solidFill>
              </a:rPr>
              <a:t> To ensure the model generalizes to new players and games, we employed </a:t>
            </a:r>
            <a:r>
              <a:rPr b="1" lang="en" sz="1500">
                <a:solidFill>
                  <a:schemeClr val="lt1"/>
                </a:solidFill>
              </a:rPr>
              <a:t>5-Fold Grouped Cross-Validation</a:t>
            </a:r>
            <a:r>
              <a:rPr lang="en" sz="1500">
                <a:solidFill>
                  <a:schemeClr val="lt1"/>
                </a:solidFill>
              </a:rPr>
              <a:t>, grouping by </a:t>
            </a:r>
            <a:r>
              <a:rPr lang="en" sz="1500">
                <a:solidFill>
                  <a:srgbClr val="188038"/>
                </a:solidFill>
                <a:latin typeface="Roboto Mono"/>
                <a:ea typeface="Roboto Mono"/>
                <a:cs typeface="Roboto Mono"/>
                <a:sym typeface="Roboto Mono"/>
              </a:rPr>
              <a:t>game_id</a:t>
            </a:r>
            <a:r>
              <a:rPr lang="en" sz="1500">
                <a:solidFill>
                  <a:schemeClr val="lt1"/>
                </a:solidFill>
              </a:rPr>
              <a:t> to prevent any data leakage between training and validation sets.</a:t>
            </a:r>
            <a:endParaRPr sz="1500">
              <a:solidFill>
                <a:schemeClr val="lt1"/>
              </a:solidFill>
            </a:endParaRPr>
          </a:p>
          <a:p>
            <a:pPr indent="0" lvl="0" marL="457200" rtl="0" algn="l">
              <a:spcBef>
                <a:spcPts val="900"/>
              </a:spcBef>
              <a:spcAft>
                <a:spcPts val="0"/>
              </a:spcAft>
              <a:buNone/>
            </a:pPr>
            <a:r>
              <a:t/>
            </a:r>
            <a:endParaRPr b="1" sz="1500" u="sng">
              <a:solidFill>
                <a:schemeClr val="lt1"/>
              </a:solidFill>
              <a:latin typeface="Calibri"/>
              <a:ea typeface="Calibri"/>
              <a:cs typeface="Calibri"/>
              <a:sym typeface="Calibri"/>
            </a:endParaRPr>
          </a:p>
          <a:p>
            <a:pPr indent="0" lvl="0" marL="0" rtl="0" algn="l">
              <a:spcBef>
                <a:spcPts val="0"/>
              </a:spcBef>
              <a:spcAft>
                <a:spcPts val="0"/>
              </a:spcAft>
              <a:buNone/>
            </a:pPr>
            <a:r>
              <a:t/>
            </a:r>
            <a:endParaRPr sz="1500">
              <a:solidFill>
                <a:srgbClr val="23272A"/>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0"/>
          <p:cNvSpPr txBox="1"/>
          <p:nvPr>
            <p:ph type="title"/>
          </p:nvPr>
        </p:nvSpPr>
        <p:spPr>
          <a:xfrm>
            <a:off x="1147125" y="526650"/>
            <a:ext cx="6729900" cy="7695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Clr>
                <a:schemeClr val="lt1"/>
              </a:buClr>
              <a:buFont typeface="Arial"/>
              <a:buNone/>
            </a:pPr>
            <a:r>
              <a:rPr lang="en" sz="5000" u="sng">
                <a:solidFill>
                  <a:srgbClr val="00796B"/>
                </a:solidFill>
                <a:latin typeface="Comfortaa Medium"/>
                <a:ea typeface="Comfortaa Medium"/>
                <a:cs typeface="Comfortaa Medium"/>
                <a:sym typeface="Comfortaa Medium"/>
              </a:rPr>
              <a:t>Dataset Description</a:t>
            </a:r>
            <a:endParaRPr sz="5000" u="sng">
              <a:solidFill>
                <a:srgbClr val="00796B"/>
              </a:solidFill>
              <a:latin typeface="Comfortaa Medium"/>
              <a:ea typeface="Comfortaa Medium"/>
              <a:cs typeface="Comfortaa Medium"/>
              <a:sym typeface="Comfortaa Medium"/>
            </a:endParaRPr>
          </a:p>
        </p:txBody>
      </p:sp>
      <p:cxnSp>
        <p:nvCxnSpPr>
          <p:cNvPr id="387" name="Google Shape;387;p50"/>
          <p:cNvCxnSpPr/>
          <p:nvPr/>
        </p:nvCxnSpPr>
        <p:spPr>
          <a:xfrm>
            <a:off x="285450" y="28590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88" name="Google Shape;388;p50"/>
          <p:cNvCxnSpPr/>
          <p:nvPr/>
        </p:nvCxnSpPr>
        <p:spPr>
          <a:xfrm>
            <a:off x="377925" y="4705275"/>
            <a:ext cx="8573100" cy="0"/>
          </a:xfrm>
          <a:prstGeom prst="straightConnector1">
            <a:avLst/>
          </a:prstGeom>
          <a:noFill/>
          <a:ln cap="flat" cmpd="sng" w="9525">
            <a:solidFill>
              <a:schemeClr val="lt1"/>
            </a:solidFill>
            <a:prstDash val="solid"/>
            <a:round/>
            <a:headEnd len="med" w="med" type="none"/>
            <a:tailEnd len="med" w="med" type="none"/>
          </a:ln>
        </p:spPr>
      </p:cxnSp>
      <p:sp>
        <p:nvSpPr>
          <p:cNvPr id="389" name="Google Shape;389;p50"/>
          <p:cNvSpPr txBox="1"/>
          <p:nvPr/>
        </p:nvSpPr>
        <p:spPr>
          <a:xfrm>
            <a:off x="822475" y="1440575"/>
            <a:ext cx="7305600" cy="3036300"/>
          </a:xfrm>
          <a:prstGeom prst="rect">
            <a:avLst/>
          </a:prstGeom>
          <a:noFill/>
          <a:ln>
            <a:noFill/>
          </a:ln>
        </p:spPr>
        <p:txBody>
          <a:bodyPr anchorCtr="0" anchor="ctr" bIns="91425" lIns="91425" spcFirstLastPara="1" rIns="91425" wrap="square" tIns="91425">
            <a:noAutofit/>
          </a:bodyPr>
          <a:lstStyle/>
          <a:p>
            <a:pPr indent="-298450" lvl="0" marL="457200" rtl="0" algn="l">
              <a:lnSpc>
                <a:spcPct val="115000"/>
              </a:lnSpc>
              <a:spcBef>
                <a:spcPts val="1200"/>
              </a:spcBef>
              <a:spcAft>
                <a:spcPts val="0"/>
              </a:spcAft>
              <a:buClr>
                <a:schemeClr val="lt1"/>
              </a:buClr>
              <a:buSzPts val="1100"/>
              <a:buChar char="●"/>
            </a:pPr>
            <a:r>
              <a:rPr b="1" lang="en" sz="1100" u="sng">
                <a:solidFill>
                  <a:schemeClr val="lt1"/>
                </a:solidFill>
              </a:rPr>
              <a:t>Dataset Overview:</a:t>
            </a:r>
            <a:r>
              <a:rPr lang="en" sz="1100">
                <a:solidFill>
                  <a:schemeClr val="lt1"/>
                </a:solidFill>
              </a:rPr>
              <a:t>72,773 games | 3 bots vs humans | BetterBot (Beginner) · STEEBot (Intermediate) · HastyBot (Advanced) 50,410 train / 22,363 test games</a:t>
            </a:r>
            <a:endParaRPr sz="1100">
              <a:solidFill>
                <a:schemeClr val="lt1"/>
              </a:solidFill>
            </a:endParaRPr>
          </a:p>
          <a:p>
            <a:pPr indent="-298450" lvl="0" marL="457200" rtl="0" algn="l">
              <a:lnSpc>
                <a:spcPct val="115000"/>
              </a:lnSpc>
              <a:spcBef>
                <a:spcPts val="0"/>
              </a:spcBef>
              <a:spcAft>
                <a:spcPts val="0"/>
              </a:spcAft>
              <a:buSzPts val="1100"/>
              <a:buChar char="●"/>
            </a:pPr>
            <a:r>
              <a:rPr b="1" lang="en" sz="1100" u="sng">
                <a:solidFill>
                  <a:schemeClr val="lt1"/>
                </a:solidFill>
              </a:rPr>
              <a:t>games.csv:</a:t>
            </a:r>
            <a:r>
              <a:rPr lang="en" sz="1100">
                <a:solidFill>
                  <a:schemeClr val="lt1"/>
                </a:solidFill>
              </a:rPr>
              <a:t> Game metadata </a:t>
            </a:r>
            <a:r>
              <a:rPr lang="en" sz="1100">
                <a:solidFill>
                  <a:srgbClr val="188038"/>
                </a:solidFill>
                <a:latin typeface="Roboto Mono"/>
                <a:ea typeface="Roboto Mono"/>
                <a:cs typeface="Roboto Mono"/>
                <a:sym typeface="Roboto Mono"/>
              </a:rPr>
              <a:t>game_id</a:t>
            </a:r>
            <a:r>
              <a:rPr lang="en" sz="1100">
                <a:solidFill>
                  <a:schemeClr val="lt1"/>
                </a:solidFill>
              </a:rPr>
              <a:t> · </a:t>
            </a:r>
            <a:r>
              <a:rPr lang="en" sz="1100">
                <a:solidFill>
                  <a:srgbClr val="188038"/>
                </a:solidFill>
                <a:latin typeface="Roboto Mono"/>
                <a:ea typeface="Roboto Mono"/>
                <a:cs typeface="Roboto Mono"/>
                <a:sym typeface="Roboto Mono"/>
              </a:rPr>
              <a:t>first</a:t>
            </a:r>
            <a:r>
              <a:rPr lang="en" sz="1100">
                <a:solidFill>
                  <a:schemeClr val="lt1"/>
                </a:solidFill>
              </a:rPr>
              <a:t> · </a:t>
            </a:r>
            <a:r>
              <a:rPr lang="en" sz="1100">
                <a:solidFill>
                  <a:srgbClr val="188038"/>
                </a:solidFill>
                <a:latin typeface="Roboto Mono"/>
                <a:ea typeface="Roboto Mono"/>
                <a:cs typeface="Roboto Mono"/>
                <a:sym typeface="Roboto Mono"/>
              </a:rPr>
              <a:t>winner</a:t>
            </a:r>
            <a:r>
              <a:rPr lang="en" sz="1100">
                <a:solidFill>
                  <a:schemeClr val="lt1"/>
                </a:solidFill>
              </a:rPr>
              <a:t> · </a:t>
            </a:r>
            <a:r>
              <a:rPr lang="en" sz="1100">
                <a:solidFill>
                  <a:srgbClr val="188038"/>
                </a:solidFill>
                <a:latin typeface="Roboto Mono"/>
                <a:ea typeface="Roboto Mono"/>
                <a:cs typeface="Roboto Mono"/>
                <a:sym typeface="Roboto Mono"/>
              </a:rPr>
              <a:t>created_at</a:t>
            </a:r>
            <a:r>
              <a:rPr lang="en" sz="1100">
                <a:solidFill>
                  <a:schemeClr val="lt1"/>
                </a:solidFill>
              </a:rPr>
              <a:t> · </a:t>
            </a:r>
            <a:r>
              <a:rPr lang="en" sz="1100">
                <a:solidFill>
                  <a:srgbClr val="188038"/>
                </a:solidFill>
                <a:latin typeface="Roboto Mono"/>
                <a:ea typeface="Roboto Mono"/>
                <a:cs typeface="Roboto Mono"/>
                <a:sym typeface="Roboto Mono"/>
              </a:rPr>
              <a:t>game_duration_seconds</a:t>
            </a:r>
            <a:r>
              <a:rPr lang="en" sz="1100">
                <a:solidFill>
                  <a:schemeClr val="lt1"/>
                </a:solidFill>
              </a:rPr>
              <a:t> </a:t>
            </a:r>
            <a:r>
              <a:rPr lang="en" sz="1100">
                <a:solidFill>
                  <a:srgbClr val="188038"/>
                </a:solidFill>
                <a:latin typeface="Roboto Mono"/>
                <a:ea typeface="Roboto Mono"/>
                <a:cs typeface="Roboto Mono"/>
                <a:sym typeface="Roboto Mono"/>
              </a:rPr>
              <a:t>time_control_name</a:t>
            </a:r>
            <a:r>
              <a:rPr lang="en" sz="1100">
                <a:solidFill>
                  <a:schemeClr val="lt1"/>
                </a:solidFill>
              </a:rPr>
              <a:t> — ultrablitz / blitz / rapid / regular </a:t>
            </a:r>
            <a:r>
              <a:rPr lang="en" sz="1100">
                <a:solidFill>
                  <a:srgbClr val="188038"/>
                </a:solidFill>
                <a:latin typeface="Roboto Mono"/>
                <a:ea typeface="Roboto Mono"/>
                <a:cs typeface="Roboto Mono"/>
                <a:sym typeface="Roboto Mono"/>
              </a:rPr>
              <a:t>game_end_reason</a:t>
            </a:r>
            <a:r>
              <a:rPr lang="en" sz="1100">
                <a:solidFill>
                  <a:schemeClr val="lt1"/>
                </a:solidFill>
              </a:rPr>
              <a:t> — STANDARD / RESIGNED / TIME / CONSECUTIVE_ZEROES </a:t>
            </a:r>
            <a:r>
              <a:rPr lang="en" sz="1100">
                <a:solidFill>
                  <a:srgbClr val="188038"/>
                </a:solidFill>
                <a:latin typeface="Roboto Mono"/>
                <a:ea typeface="Roboto Mono"/>
                <a:cs typeface="Roboto Mono"/>
                <a:sym typeface="Roboto Mono"/>
              </a:rPr>
              <a:t>lexicon</a:t>
            </a:r>
            <a:r>
              <a:rPr lang="en" sz="1100">
                <a:solidFill>
                  <a:schemeClr val="lt1"/>
                </a:solidFill>
              </a:rPr>
              <a:t> — CSW21 / NWL20 / ECWL / NSWL20 </a:t>
            </a:r>
            <a:r>
              <a:rPr lang="en" sz="1100">
                <a:solidFill>
                  <a:srgbClr val="188038"/>
                </a:solidFill>
                <a:latin typeface="Roboto Mono"/>
                <a:ea typeface="Roboto Mono"/>
                <a:cs typeface="Roboto Mono"/>
                <a:sym typeface="Roboto Mono"/>
              </a:rPr>
              <a:t>rating_mode</a:t>
            </a:r>
            <a:r>
              <a:rPr lang="en" sz="1100">
                <a:solidFill>
                  <a:schemeClr val="lt1"/>
                </a:solidFill>
              </a:rPr>
              <a:t> · </a:t>
            </a:r>
            <a:r>
              <a:rPr lang="en" sz="1100">
                <a:solidFill>
                  <a:srgbClr val="188038"/>
                </a:solidFill>
                <a:latin typeface="Roboto Mono"/>
                <a:ea typeface="Roboto Mono"/>
                <a:cs typeface="Roboto Mono"/>
                <a:sym typeface="Roboto Mono"/>
              </a:rPr>
              <a:t>initial_time_seconds</a:t>
            </a:r>
            <a:r>
              <a:rPr lang="en" sz="1100">
                <a:solidFill>
                  <a:schemeClr val="lt1"/>
                </a:solidFill>
              </a:rPr>
              <a:t> · </a:t>
            </a:r>
            <a:r>
              <a:rPr lang="en" sz="1100">
                <a:solidFill>
                  <a:srgbClr val="188038"/>
                </a:solidFill>
                <a:latin typeface="Roboto Mono"/>
                <a:ea typeface="Roboto Mono"/>
                <a:cs typeface="Roboto Mono"/>
                <a:sym typeface="Roboto Mono"/>
              </a:rPr>
              <a:t>increment_seconds</a:t>
            </a:r>
            <a:r>
              <a:rPr lang="en" sz="1100">
                <a:solidFill>
                  <a:schemeClr val="lt1"/>
                </a:solidFill>
              </a:rPr>
              <a:t> · </a:t>
            </a:r>
            <a:r>
              <a:rPr lang="en" sz="1100">
                <a:solidFill>
                  <a:srgbClr val="188038"/>
                </a:solidFill>
                <a:latin typeface="Roboto Mono"/>
                <a:ea typeface="Roboto Mono"/>
                <a:cs typeface="Roboto Mono"/>
                <a:sym typeface="Roboto Mono"/>
              </a:rPr>
              <a:t>max_overtime_minutes</a:t>
            </a:r>
            <a:endParaRPr sz="1100">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SzPts val="1100"/>
              <a:buChar char="●"/>
            </a:pPr>
            <a:r>
              <a:rPr b="1" lang="en" sz="1100" u="sng">
                <a:solidFill>
                  <a:schemeClr val="lt1"/>
                </a:solidFill>
              </a:rPr>
              <a:t>turns.csv:</a:t>
            </a:r>
            <a:r>
              <a:rPr lang="en" sz="1100">
                <a:solidFill>
                  <a:schemeClr val="lt1"/>
                </a:solidFill>
              </a:rPr>
              <a:t>Move-by-move data </a:t>
            </a:r>
            <a:r>
              <a:rPr lang="en" sz="1100">
                <a:solidFill>
                  <a:srgbClr val="188038"/>
                </a:solidFill>
                <a:latin typeface="Roboto Mono"/>
                <a:ea typeface="Roboto Mono"/>
                <a:cs typeface="Roboto Mono"/>
                <a:sym typeface="Roboto Mono"/>
              </a:rPr>
              <a:t>game_id</a:t>
            </a:r>
            <a:r>
              <a:rPr lang="en" sz="1100">
                <a:solidFill>
                  <a:schemeClr val="lt1"/>
                </a:solidFill>
              </a:rPr>
              <a:t> · </a:t>
            </a:r>
            <a:r>
              <a:rPr lang="en" sz="1100">
                <a:solidFill>
                  <a:srgbClr val="188038"/>
                </a:solidFill>
                <a:latin typeface="Roboto Mono"/>
                <a:ea typeface="Roboto Mono"/>
                <a:cs typeface="Roboto Mono"/>
                <a:sym typeface="Roboto Mono"/>
              </a:rPr>
              <a:t>turn_number</a:t>
            </a:r>
            <a:r>
              <a:rPr lang="en" sz="1100">
                <a:solidFill>
                  <a:schemeClr val="lt1"/>
                </a:solidFill>
              </a:rPr>
              <a:t> · </a:t>
            </a:r>
            <a:r>
              <a:rPr lang="en" sz="1100">
                <a:solidFill>
                  <a:srgbClr val="188038"/>
                </a:solidFill>
                <a:latin typeface="Roboto Mono"/>
                <a:ea typeface="Roboto Mono"/>
                <a:cs typeface="Roboto Mono"/>
                <a:sym typeface="Roboto Mono"/>
              </a:rPr>
              <a:t>nickname</a:t>
            </a:r>
            <a:r>
              <a:rPr lang="en" sz="1100">
                <a:solidFill>
                  <a:schemeClr val="lt1"/>
                </a:solidFill>
              </a:rPr>
              <a:t> · </a:t>
            </a:r>
            <a:r>
              <a:rPr lang="en" sz="1100">
                <a:solidFill>
                  <a:srgbClr val="188038"/>
                </a:solidFill>
                <a:latin typeface="Roboto Mono"/>
                <a:ea typeface="Roboto Mono"/>
                <a:cs typeface="Roboto Mono"/>
                <a:sym typeface="Roboto Mono"/>
              </a:rPr>
              <a:t>rack</a:t>
            </a:r>
            <a:r>
              <a:rPr lang="en" sz="1100">
                <a:solidFill>
                  <a:schemeClr val="lt1"/>
                </a:solidFill>
              </a:rPr>
              <a:t> · </a:t>
            </a:r>
            <a:r>
              <a:rPr lang="en" sz="1100">
                <a:solidFill>
                  <a:srgbClr val="188038"/>
                </a:solidFill>
                <a:latin typeface="Roboto Mono"/>
                <a:ea typeface="Roboto Mono"/>
                <a:cs typeface="Roboto Mono"/>
                <a:sym typeface="Roboto Mono"/>
              </a:rPr>
              <a:t>score</a:t>
            </a:r>
            <a:r>
              <a:rPr lang="en" sz="1100">
                <a:solidFill>
                  <a:schemeClr val="lt1"/>
                </a:solidFill>
              </a:rPr>
              <a:t> · </a:t>
            </a:r>
            <a:r>
              <a:rPr lang="en" sz="1100">
                <a:solidFill>
                  <a:srgbClr val="188038"/>
                </a:solidFill>
                <a:latin typeface="Roboto Mono"/>
                <a:ea typeface="Roboto Mono"/>
                <a:cs typeface="Roboto Mono"/>
                <a:sym typeface="Roboto Mono"/>
              </a:rPr>
              <a:t>points</a:t>
            </a:r>
            <a:r>
              <a:rPr lang="en" sz="1100">
                <a:solidFill>
                  <a:schemeClr val="lt1"/>
                </a:solidFill>
              </a:rPr>
              <a:t> </a:t>
            </a:r>
            <a:r>
              <a:rPr lang="en" sz="1100">
                <a:solidFill>
                  <a:srgbClr val="188038"/>
                </a:solidFill>
                <a:latin typeface="Roboto Mono"/>
                <a:ea typeface="Roboto Mono"/>
                <a:cs typeface="Roboto Mono"/>
                <a:sym typeface="Roboto Mono"/>
              </a:rPr>
              <a:t>location</a:t>
            </a:r>
            <a:r>
              <a:rPr lang="en" sz="1100">
                <a:solidFill>
                  <a:schemeClr val="lt1"/>
                </a:solidFill>
              </a:rPr>
              <a:t> — board position (NA in test set) </a:t>
            </a:r>
            <a:r>
              <a:rPr lang="en" sz="1100">
                <a:solidFill>
                  <a:srgbClr val="188038"/>
                </a:solidFill>
                <a:latin typeface="Roboto Mono"/>
                <a:ea typeface="Roboto Mono"/>
                <a:cs typeface="Roboto Mono"/>
                <a:sym typeface="Roboto Mono"/>
              </a:rPr>
              <a:t>move</a:t>
            </a:r>
            <a:r>
              <a:rPr lang="en" sz="1100">
                <a:solidFill>
                  <a:schemeClr val="lt1"/>
                </a:solidFill>
              </a:rPr>
              <a:t> — tiles played; </a:t>
            </a:r>
            <a:r>
              <a:rPr lang="en" sz="1100">
                <a:solidFill>
                  <a:srgbClr val="188038"/>
                </a:solidFill>
                <a:latin typeface="Roboto Mono"/>
                <a:ea typeface="Roboto Mono"/>
                <a:cs typeface="Roboto Mono"/>
                <a:sym typeface="Roboto Mono"/>
              </a:rPr>
              <a:t>--</a:t>
            </a:r>
            <a:r>
              <a:rPr lang="en" sz="1100">
                <a:solidFill>
                  <a:schemeClr val="lt1"/>
                </a:solidFill>
              </a:rPr>
              <a:t> Pass · </a:t>
            </a:r>
            <a:r>
              <a:rPr lang="en" sz="1100">
                <a:solidFill>
                  <a:srgbClr val="188038"/>
                </a:solidFill>
                <a:latin typeface="Roboto Mono"/>
                <a:ea typeface="Roboto Mono"/>
                <a:cs typeface="Roboto Mono"/>
                <a:sym typeface="Roboto Mono"/>
              </a:rPr>
              <a:t>-tiles</a:t>
            </a:r>
            <a:r>
              <a:rPr lang="en" sz="1100">
                <a:solidFill>
                  <a:schemeClr val="lt1"/>
                </a:solidFill>
              </a:rPr>
              <a:t> Exchange · </a:t>
            </a:r>
            <a:r>
              <a:rPr lang="en" sz="1100">
                <a:solidFill>
                  <a:srgbClr val="188038"/>
                </a:solidFill>
                <a:latin typeface="Roboto Mono"/>
                <a:ea typeface="Roboto Mono"/>
                <a:cs typeface="Roboto Mono"/>
                <a:sym typeface="Roboto Mono"/>
              </a:rPr>
              <a:t>(tiles)</a:t>
            </a:r>
            <a:r>
              <a:rPr lang="en" sz="1100">
                <a:solidFill>
                  <a:schemeClr val="lt1"/>
                </a:solidFill>
              </a:rPr>
              <a:t> remaining at end </a:t>
            </a:r>
            <a:r>
              <a:rPr lang="en" sz="1100">
                <a:solidFill>
                  <a:srgbClr val="188038"/>
                </a:solidFill>
                <a:latin typeface="Roboto Mono"/>
                <a:ea typeface="Roboto Mono"/>
                <a:cs typeface="Roboto Mono"/>
                <a:sym typeface="Roboto Mono"/>
              </a:rPr>
              <a:t>turn_type</a:t>
            </a:r>
            <a:r>
              <a:rPr lang="en" sz="1100">
                <a:solidFill>
                  <a:schemeClr val="lt1"/>
                </a:solidFill>
              </a:rPr>
              <a:t> — Play / Exchange / Pass / Six-Zero Rule / Challenge</a:t>
            </a:r>
            <a:endParaRPr sz="1100">
              <a:solidFill>
                <a:schemeClr val="lt1"/>
              </a:solidFill>
            </a:endParaRPr>
          </a:p>
          <a:p>
            <a:pPr indent="-298450" lvl="0" marL="457200" rtl="0" algn="l">
              <a:lnSpc>
                <a:spcPct val="115000"/>
              </a:lnSpc>
              <a:spcBef>
                <a:spcPts val="0"/>
              </a:spcBef>
              <a:spcAft>
                <a:spcPts val="0"/>
              </a:spcAft>
              <a:buSzPts val="1100"/>
              <a:buChar char="●"/>
            </a:pPr>
            <a:r>
              <a:rPr b="1" lang="en" sz="1100" u="sng">
                <a:solidFill>
                  <a:schemeClr val="lt1"/>
                </a:solidFill>
              </a:rPr>
              <a:t>train.csv / test.csv:</a:t>
            </a:r>
            <a:r>
              <a:rPr lang="en" sz="1100">
                <a:solidFill>
                  <a:schemeClr val="lt1"/>
                </a:solidFill>
              </a:rPr>
              <a:t> Per-player per-game </a:t>
            </a:r>
            <a:r>
              <a:rPr lang="en" sz="1100">
                <a:solidFill>
                  <a:srgbClr val="188038"/>
                </a:solidFill>
                <a:latin typeface="Roboto Mono"/>
                <a:ea typeface="Roboto Mono"/>
                <a:cs typeface="Roboto Mono"/>
                <a:sym typeface="Roboto Mono"/>
              </a:rPr>
              <a:t>game_id</a:t>
            </a:r>
            <a:r>
              <a:rPr lang="en" sz="1100">
                <a:solidFill>
                  <a:schemeClr val="lt1"/>
                </a:solidFill>
              </a:rPr>
              <a:t> · </a:t>
            </a:r>
            <a:r>
              <a:rPr lang="en" sz="1100">
                <a:solidFill>
                  <a:srgbClr val="188038"/>
                </a:solidFill>
                <a:latin typeface="Roboto Mono"/>
                <a:ea typeface="Roboto Mono"/>
                <a:cs typeface="Roboto Mono"/>
                <a:sym typeface="Roboto Mono"/>
              </a:rPr>
              <a:t>nickname</a:t>
            </a:r>
            <a:r>
              <a:rPr lang="en" sz="1100">
                <a:solidFill>
                  <a:schemeClr val="lt1"/>
                </a:solidFill>
              </a:rPr>
              <a:t> · </a:t>
            </a:r>
            <a:r>
              <a:rPr lang="en" sz="1100">
                <a:solidFill>
                  <a:srgbClr val="188038"/>
                </a:solidFill>
                <a:latin typeface="Roboto Mono"/>
                <a:ea typeface="Roboto Mono"/>
                <a:cs typeface="Roboto Mono"/>
                <a:sym typeface="Roboto Mono"/>
              </a:rPr>
              <a:t>score</a:t>
            </a:r>
            <a:r>
              <a:rPr lang="en" sz="1100">
                <a:solidFill>
                  <a:schemeClr val="lt1"/>
                </a:solidFill>
              </a:rPr>
              <a:t> (final) · </a:t>
            </a:r>
            <a:r>
              <a:rPr lang="en" sz="1100">
                <a:solidFill>
                  <a:srgbClr val="188038"/>
                </a:solidFill>
                <a:latin typeface="Roboto Mono"/>
                <a:ea typeface="Roboto Mono"/>
                <a:cs typeface="Roboto Mono"/>
                <a:sym typeface="Roboto Mono"/>
              </a:rPr>
              <a:t>rating</a:t>
            </a:r>
            <a:r>
              <a:rPr lang="en" sz="1100">
                <a:solidFill>
                  <a:schemeClr val="lt1"/>
                </a:solidFill>
              </a:rPr>
              <a:t> (pre-game, per lexicon+time control) ⚠ </a:t>
            </a:r>
            <a:r>
              <a:rPr lang="en" sz="1100">
                <a:solidFill>
                  <a:srgbClr val="188038"/>
                </a:solidFill>
                <a:latin typeface="Roboto Mono"/>
                <a:ea typeface="Roboto Mono"/>
                <a:cs typeface="Roboto Mono"/>
                <a:sym typeface="Roboto Mono"/>
              </a:rPr>
              <a:t>rating</a:t>
            </a:r>
            <a:r>
              <a:rPr lang="en" sz="1100">
                <a:solidFill>
                  <a:schemeClr val="lt1"/>
                </a:solidFill>
              </a:rPr>
              <a:t> is </a:t>
            </a:r>
            <a:r>
              <a:rPr b="1" lang="en" sz="1100">
                <a:solidFill>
                  <a:schemeClr val="lt1"/>
                </a:solidFill>
              </a:rPr>
              <a:t>NA for human players in test.csv</a:t>
            </a:r>
            <a:r>
              <a:rPr lang="en" sz="1100">
                <a:solidFill>
                  <a:schemeClr val="lt1"/>
                </a:solidFill>
              </a:rPr>
              <a:t> — this is the prediction target</a:t>
            </a:r>
            <a:endParaRPr sz="1100">
              <a:solidFill>
                <a:schemeClr val="lt1"/>
              </a:solidFill>
            </a:endParaRPr>
          </a:p>
          <a:p>
            <a:pPr indent="0" lvl="0" marL="457200" rtl="0" algn="l">
              <a:spcBef>
                <a:spcPts val="1200"/>
              </a:spcBef>
              <a:spcAft>
                <a:spcPts val="0"/>
              </a:spcAft>
              <a:buNone/>
            </a:pPr>
            <a:r>
              <a:t/>
            </a:r>
            <a:endParaRPr b="1" sz="1500" u="sng">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1"/>
          <p:cNvSpPr txBox="1"/>
          <p:nvPr>
            <p:ph type="title"/>
          </p:nvPr>
        </p:nvSpPr>
        <p:spPr>
          <a:xfrm>
            <a:off x="482325" y="197050"/>
            <a:ext cx="4775100" cy="9852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Clr>
                <a:schemeClr val="lt1"/>
              </a:buClr>
              <a:buFont typeface="Arial"/>
              <a:buNone/>
            </a:pPr>
            <a:r>
              <a:rPr lang="en" sz="3200" u="sng">
                <a:solidFill>
                  <a:srgbClr val="00796B"/>
                </a:solidFill>
                <a:latin typeface="Comfortaa Medium"/>
                <a:ea typeface="Comfortaa Medium"/>
                <a:cs typeface="Comfortaa Medium"/>
                <a:sym typeface="Comfortaa Medium"/>
              </a:rPr>
              <a:t>Baseline Model</a:t>
            </a:r>
            <a:endParaRPr sz="3200" u="sng">
              <a:solidFill>
                <a:srgbClr val="00796B"/>
              </a:solidFill>
              <a:latin typeface="Comfortaa Medium"/>
              <a:ea typeface="Comfortaa Medium"/>
              <a:cs typeface="Comfortaa Medium"/>
              <a:sym typeface="Comfortaa Medium"/>
            </a:endParaRPr>
          </a:p>
          <a:p>
            <a:pPr indent="0" lvl="0" marL="0" rtl="0" algn="l">
              <a:lnSpc>
                <a:spcPct val="100000"/>
              </a:lnSpc>
              <a:spcBef>
                <a:spcPts val="0"/>
              </a:spcBef>
              <a:spcAft>
                <a:spcPts val="0"/>
              </a:spcAft>
              <a:buClr>
                <a:schemeClr val="lt1"/>
              </a:buClr>
              <a:buFont typeface="Arial"/>
              <a:buNone/>
            </a:pPr>
            <a:r>
              <a:rPr lang="en" sz="3200" u="sng">
                <a:solidFill>
                  <a:srgbClr val="00796B"/>
                </a:solidFill>
                <a:latin typeface="Comfortaa Medium"/>
                <a:ea typeface="Comfortaa Medium"/>
                <a:cs typeface="Comfortaa Medium"/>
                <a:sym typeface="Comfortaa Medium"/>
              </a:rPr>
              <a:t> Architecture</a:t>
            </a:r>
            <a:endParaRPr sz="3200">
              <a:solidFill>
                <a:srgbClr val="00796B"/>
              </a:solidFill>
              <a:latin typeface="Comfortaa Medium"/>
              <a:ea typeface="Comfortaa Medium"/>
              <a:cs typeface="Comfortaa Medium"/>
              <a:sym typeface="Comfortaa Medium"/>
            </a:endParaRPr>
          </a:p>
        </p:txBody>
      </p:sp>
      <p:cxnSp>
        <p:nvCxnSpPr>
          <p:cNvPr id="395" name="Google Shape;395;p51"/>
          <p:cNvCxnSpPr/>
          <p:nvPr/>
        </p:nvCxnSpPr>
        <p:spPr>
          <a:xfrm>
            <a:off x="343200" y="4782125"/>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96" name="Google Shape;396;p51"/>
          <p:cNvCxnSpPr/>
          <p:nvPr/>
        </p:nvCxnSpPr>
        <p:spPr>
          <a:xfrm>
            <a:off x="343200" y="79325"/>
            <a:ext cx="8573100" cy="0"/>
          </a:xfrm>
          <a:prstGeom prst="straightConnector1">
            <a:avLst/>
          </a:prstGeom>
          <a:noFill/>
          <a:ln cap="flat" cmpd="sng" w="9525">
            <a:solidFill>
              <a:schemeClr val="lt1"/>
            </a:solidFill>
            <a:prstDash val="solid"/>
            <a:round/>
            <a:headEnd len="med" w="med" type="none"/>
            <a:tailEnd len="med" w="med" type="none"/>
          </a:ln>
        </p:spPr>
      </p:cxnSp>
      <p:sp>
        <p:nvSpPr>
          <p:cNvPr id="397" name="Google Shape;397;p51"/>
          <p:cNvSpPr txBox="1"/>
          <p:nvPr/>
        </p:nvSpPr>
        <p:spPr>
          <a:xfrm>
            <a:off x="222450" y="1514475"/>
            <a:ext cx="5669100" cy="2648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Calibri"/>
              <a:buChar char="●"/>
            </a:pPr>
            <a:r>
              <a:rPr b="1" lang="en" sz="1500" u="sng">
                <a:solidFill>
                  <a:schemeClr val="lt1"/>
                </a:solidFill>
                <a:latin typeface="Calibri"/>
                <a:ea typeface="Calibri"/>
                <a:cs typeface="Calibri"/>
                <a:sym typeface="Calibri"/>
              </a:rPr>
              <a:t>Approach:</a:t>
            </a:r>
            <a:r>
              <a:rPr b="1" lang="en" sz="1500">
                <a:solidFill>
                  <a:schemeClr val="lt1"/>
                </a:solidFill>
                <a:latin typeface="Calibri"/>
                <a:ea typeface="Calibri"/>
                <a:cs typeface="Calibri"/>
                <a:sym typeface="Calibri"/>
              </a:rPr>
              <a:t> </a:t>
            </a:r>
            <a:r>
              <a:rPr lang="en" sz="1500">
                <a:solidFill>
                  <a:schemeClr val="lt1"/>
                </a:solidFill>
                <a:latin typeface="Calibri"/>
                <a:ea typeface="Calibri"/>
                <a:cs typeface="Calibri"/>
                <a:sym typeface="Calibri"/>
              </a:rPr>
              <a:t>Our baseline, established in baseline_model.ipynb, evaluates three models: </a:t>
            </a:r>
            <a:r>
              <a:rPr b="1" lang="en" sz="1500">
                <a:solidFill>
                  <a:schemeClr val="lt1"/>
                </a:solidFill>
                <a:latin typeface="Calibri"/>
                <a:ea typeface="Calibri"/>
                <a:cs typeface="Calibri"/>
                <a:sym typeface="Calibri"/>
              </a:rPr>
              <a:t>Global Mean</a:t>
            </a:r>
            <a:r>
              <a:rPr lang="en" sz="1500">
                <a:solidFill>
                  <a:schemeClr val="lt1"/>
                </a:solidFill>
                <a:latin typeface="Calibri"/>
                <a:ea typeface="Calibri"/>
                <a:cs typeface="Calibri"/>
                <a:sym typeface="Calibri"/>
              </a:rPr>
              <a:t>, </a:t>
            </a:r>
            <a:r>
              <a:rPr b="1" lang="en" sz="1500">
                <a:solidFill>
                  <a:schemeClr val="lt1"/>
                </a:solidFill>
                <a:latin typeface="Calibri"/>
                <a:ea typeface="Calibri"/>
                <a:cs typeface="Calibri"/>
                <a:sym typeface="Calibri"/>
              </a:rPr>
              <a:t>Ridge Regression</a:t>
            </a:r>
            <a:r>
              <a:rPr lang="en" sz="1500">
                <a:solidFill>
                  <a:schemeClr val="lt1"/>
                </a:solidFill>
                <a:latin typeface="Calibri"/>
                <a:ea typeface="Calibri"/>
                <a:cs typeface="Calibri"/>
                <a:sym typeface="Calibri"/>
              </a:rPr>
              <a:t>, and </a:t>
            </a:r>
            <a:r>
              <a:rPr b="1" lang="en" sz="1500">
                <a:solidFill>
                  <a:schemeClr val="lt1"/>
                </a:solidFill>
                <a:latin typeface="Calibri"/>
                <a:ea typeface="Calibri"/>
                <a:cs typeface="Calibri"/>
                <a:sym typeface="Calibri"/>
              </a:rPr>
              <a:t>HistGradientBoostingRegressor</a:t>
            </a:r>
            <a:r>
              <a:rPr lang="en" sz="1500">
                <a:solidFill>
                  <a:schemeClr val="lt1"/>
                </a:solidFill>
                <a:latin typeface="Calibri"/>
                <a:ea typeface="Calibri"/>
                <a:cs typeface="Calibri"/>
                <a:sym typeface="Calibri"/>
              </a:rPr>
              <a:t> </a:t>
            </a:r>
            <a:endParaRPr sz="1500">
              <a:solidFill>
                <a:schemeClr val="lt1"/>
              </a:solidFill>
              <a:latin typeface="Calibri"/>
              <a:ea typeface="Calibri"/>
              <a:cs typeface="Calibri"/>
              <a:sym typeface="Calibri"/>
            </a:endParaRPr>
          </a:p>
          <a:p>
            <a:pPr indent="-323850" lvl="0" marL="457200" rtl="0" algn="l">
              <a:spcBef>
                <a:spcPts val="0"/>
              </a:spcBef>
              <a:spcAft>
                <a:spcPts val="0"/>
              </a:spcAft>
              <a:buClr>
                <a:schemeClr val="lt1"/>
              </a:buClr>
              <a:buSzPts val="1500"/>
              <a:buFont typeface="Calibri"/>
              <a:buChar char="●"/>
            </a:pPr>
            <a:r>
              <a:rPr b="1" lang="en" sz="1500" u="sng">
                <a:solidFill>
                  <a:schemeClr val="lt1"/>
                </a:solidFill>
                <a:latin typeface="Calibri"/>
                <a:ea typeface="Calibri"/>
                <a:cs typeface="Calibri"/>
                <a:sym typeface="Calibri"/>
              </a:rPr>
              <a:t>Feature Selection:</a:t>
            </a:r>
            <a:r>
              <a:rPr b="1" lang="en" sz="1500">
                <a:solidFill>
                  <a:schemeClr val="lt1"/>
                </a:solidFill>
                <a:latin typeface="Calibri"/>
                <a:ea typeface="Calibri"/>
                <a:cs typeface="Calibri"/>
                <a:sym typeface="Calibri"/>
              </a:rPr>
              <a:t> </a:t>
            </a:r>
            <a:r>
              <a:rPr lang="en" sz="1500">
                <a:solidFill>
                  <a:schemeClr val="lt1"/>
                </a:solidFill>
                <a:latin typeface="Calibri"/>
                <a:ea typeface="Calibri"/>
                <a:cs typeface="Calibri"/>
                <a:sym typeface="Calibri"/>
              </a:rPr>
              <a:t>This model relies on game-level metadata and score-based features. Categorical variables such as bot, lexicon, and settings are handled via One-Hot Encoding.</a:t>
            </a:r>
            <a:endParaRPr sz="1500">
              <a:solidFill>
                <a:schemeClr val="lt1"/>
              </a:solidFill>
              <a:latin typeface="Calibri"/>
              <a:ea typeface="Calibri"/>
              <a:cs typeface="Calibri"/>
              <a:sym typeface="Calibri"/>
            </a:endParaRPr>
          </a:p>
          <a:p>
            <a:pPr indent="-323850" lvl="0" marL="457200" rtl="0" algn="l">
              <a:spcBef>
                <a:spcPts val="0"/>
              </a:spcBef>
              <a:spcAft>
                <a:spcPts val="0"/>
              </a:spcAft>
              <a:buClr>
                <a:schemeClr val="lt1"/>
              </a:buClr>
              <a:buSzPts val="1500"/>
              <a:buFont typeface="Calibri"/>
              <a:buChar char="●"/>
            </a:pPr>
            <a:r>
              <a:rPr b="1" lang="en" sz="1500" u="sng">
                <a:solidFill>
                  <a:schemeClr val="lt1"/>
                </a:solidFill>
                <a:latin typeface="Calibri"/>
                <a:ea typeface="Calibri"/>
                <a:cs typeface="Calibri"/>
                <a:sym typeface="Calibri"/>
              </a:rPr>
              <a:t>Logic:</a:t>
            </a:r>
            <a:r>
              <a:rPr b="1" lang="en" sz="1500">
                <a:solidFill>
                  <a:schemeClr val="lt1"/>
                </a:solidFill>
                <a:latin typeface="Calibri"/>
                <a:ea typeface="Calibri"/>
                <a:cs typeface="Calibri"/>
                <a:sym typeface="Calibri"/>
              </a:rPr>
              <a:t> </a:t>
            </a:r>
            <a:r>
              <a:rPr lang="en" sz="1500">
                <a:solidFill>
                  <a:schemeClr val="lt1"/>
                </a:solidFill>
                <a:latin typeface="Calibri"/>
                <a:ea typeface="Calibri"/>
                <a:cs typeface="Calibri"/>
                <a:sym typeface="Calibri"/>
              </a:rPr>
              <a:t>It predicts player ratings using only game results and metadata, without considering move-by-move gameplay.</a:t>
            </a:r>
            <a:endParaRPr sz="1500">
              <a:solidFill>
                <a:schemeClr val="lt1"/>
              </a:solidFill>
              <a:latin typeface="Calibri"/>
              <a:ea typeface="Calibri"/>
              <a:cs typeface="Calibri"/>
              <a:sym typeface="Calibri"/>
            </a:endParaRPr>
          </a:p>
          <a:p>
            <a:pPr indent="-323850" lvl="0" marL="457200" rtl="0" algn="l">
              <a:spcBef>
                <a:spcPts val="0"/>
              </a:spcBef>
              <a:spcAft>
                <a:spcPts val="0"/>
              </a:spcAft>
              <a:buClr>
                <a:schemeClr val="lt1"/>
              </a:buClr>
              <a:buSzPts val="1500"/>
              <a:buFont typeface="Calibri"/>
              <a:buChar char="●"/>
            </a:pPr>
            <a:r>
              <a:rPr b="1" lang="en" sz="1500" u="sng">
                <a:solidFill>
                  <a:schemeClr val="lt1"/>
                </a:solidFill>
                <a:latin typeface="Calibri"/>
                <a:ea typeface="Calibri"/>
                <a:cs typeface="Calibri"/>
                <a:sym typeface="Calibri"/>
              </a:rPr>
              <a:t>Interpretation:</a:t>
            </a:r>
            <a:r>
              <a:rPr b="1" lang="en" sz="1500">
                <a:solidFill>
                  <a:schemeClr val="lt1"/>
                </a:solidFill>
                <a:latin typeface="Calibri"/>
                <a:ea typeface="Calibri"/>
                <a:cs typeface="Calibri"/>
                <a:sym typeface="Calibri"/>
              </a:rPr>
              <a:t> </a:t>
            </a:r>
            <a:r>
              <a:rPr lang="en" sz="1500">
                <a:solidFill>
                  <a:schemeClr val="lt1"/>
                </a:solidFill>
                <a:latin typeface="Calibri"/>
                <a:ea typeface="Calibri"/>
                <a:cs typeface="Calibri"/>
                <a:sym typeface="Calibri"/>
              </a:rPr>
              <a:t>The baseline captures strong metadata signals but lacks turn-level insight, limiting its ability to evaluate move quality and making it dependent on outcome-driven patterns.</a:t>
            </a:r>
            <a:endParaRPr sz="1500">
              <a:solidFill>
                <a:schemeClr val="lt1"/>
              </a:solidFill>
              <a:latin typeface="Calibri"/>
              <a:ea typeface="Calibri"/>
              <a:cs typeface="Calibri"/>
              <a:sym typeface="Calibri"/>
            </a:endParaRPr>
          </a:p>
        </p:txBody>
      </p:sp>
      <p:pic>
        <p:nvPicPr>
          <p:cNvPr id="398" name="Google Shape;398;p51" title="baseline_model_comparison.png"/>
          <p:cNvPicPr preferRelativeResize="0"/>
          <p:nvPr/>
        </p:nvPicPr>
        <p:blipFill rotWithShape="1">
          <a:blip r:embed="rId3">
            <a:alphaModFix/>
          </a:blip>
          <a:srcRect b="0" l="0" r="49370" t="0"/>
          <a:stretch/>
        </p:blipFill>
        <p:spPr>
          <a:xfrm>
            <a:off x="6030861" y="418299"/>
            <a:ext cx="2885448" cy="2098186"/>
          </a:xfrm>
          <a:prstGeom prst="rect">
            <a:avLst/>
          </a:prstGeom>
          <a:noFill/>
          <a:ln>
            <a:noFill/>
          </a:ln>
        </p:spPr>
      </p:pic>
      <p:pic>
        <p:nvPicPr>
          <p:cNvPr id="399" name="Google Shape;399;p51" title="baseline_model_comparison.png"/>
          <p:cNvPicPr preferRelativeResize="0"/>
          <p:nvPr/>
        </p:nvPicPr>
        <p:blipFill rotWithShape="1">
          <a:blip r:embed="rId3">
            <a:alphaModFix/>
          </a:blip>
          <a:srcRect b="0" l="50040" r="0" t="0"/>
          <a:stretch/>
        </p:blipFill>
        <p:spPr>
          <a:xfrm>
            <a:off x="6030527" y="2598850"/>
            <a:ext cx="2885448" cy="21263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2"/>
          <p:cNvSpPr txBox="1"/>
          <p:nvPr>
            <p:ph type="title"/>
          </p:nvPr>
        </p:nvSpPr>
        <p:spPr>
          <a:xfrm>
            <a:off x="1360050" y="285900"/>
            <a:ext cx="6423900" cy="9852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None/>
            </a:pPr>
            <a:r>
              <a:rPr b="1" lang="en" sz="3200" u="sng">
                <a:solidFill>
                  <a:srgbClr val="00796B"/>
                </a:solidFill>
                <a:latin typeface="Comfortaa"/>
                <a:ea typeface="Comfortaa"/>
                <a:cs typeface="Comfortaa"/>
                <a:sym typeface="Comfortaa"/>
              </a:rPr>
              <a:t>Final Model - The Blended Ensemble</a:t>
            </a:r>
            <a:endParaRPr b="1" sz="3200" u="sng">
              <a:solidFill>
                <a:srgbClr val="00796B"/>
              </a:solidFill>
              <a:latin typeface="Comfortaa"/>
              <a:ea typeface="Comfortaa"/>
              <a:cs typeface="Comfortaa"/>
              <a:sym typeface="Comfortaa"/>
            </a:endParaRPr>
          </a:p>
        </p:txBody>
      </p:sp>
      <p:sp>
        <p:nvSpPr>
          <p:cNvPr id="405" name="Google Shape;405;p52"/>
          <p:cNvSpPr txBox="1"/>
          <p:nvPr/>
        </p:nvSpPr>
        <p:spPr>
          <a:xfrm>
            <a:off x="534900" y="1271100"/>
            <a:ext cx="8189700" cy="3568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Calibri"/>
              <a:buChar char="●"/>
            </a:pPr>
            <a:r>
              <a:rPr b="1" lang="en" sz="1800" u="sng">
                <a:solidFill>
                  <a:schemeClr val="lt1"/>
                </a:solidFill>
                <a:latin typeface="Calibri"/>
                <a:ea typeface="Calibri"/>
                <a:cs typeface="Calibri"/>
                <a:sym typeface="Calibri"/>
              </a:rPr>
              <a:t>The Architecture</a:t>
            </a:r>
            <a:r>
              <a:rPr lang="en" sz="1800">
                <a:solidFill>
                  <a:schemeClr val="lt1"/>
                </a:solidFill>
                <a:latin typeface="Calibri"/>
                <a:ea typeface="Calibri"/>
                <a:cs typeface="Calibri"/>
                <a:sym typeface="Calibri"/>
              </a:rPr>
              <a:t>: We transitioned to a Weighted Ensemble named </a:t>
            </a:r>
            <a:r>
              <a:rPr lang="en" sz="1800">
                <a:solidFill>
                  <a:srgbClr val="00796B"/>
                </a:solidFill>
                <a:latin typeface="Calibri"/>
                <a:ea typeface="Calibri"/>
                <a:cs typeface="Calibri"/>
                <a:sym typeface="Calibri"/>
              </a:rPr>
              <a:t>blend_ridge_hist</a:t>
            </a:r>
            <a:r>
              <a:rPr lang="en" sz="1800">
                <a:solidFill>
                  <a:schemeClr val="lt1"/>
                </a:solidFill>
                <a:latin typeface="Calibri"/>
                <a:ea typeface="Calibri"/>
                <a:cs typeface="Calibri"/>
                <a:sym typeface="Calibri"/>
              </a:rPr>
              <a:t>.</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 sz="1800">
                <a:solidFill>
                  <a:schemeClr val="lt1"/>
                </a:solidFill>
                <a:latin typeface="Calibri"/>
                <a:ea typeface="Calibri"/>
                <a:cs typeface="Calibri"/>
                <a:sym typeface="Calibri"/>
              </a:rPr>
              <a:t>Component A</a:t>
            </a:r>
            <a:r>
              <a:rPr lang="en" sz="1800">
                <a:solidFill>
                  <a:schemeClr val="lt1"/>
                </a:solidFill>
                <a:latin typeface="Calibri"/>
                <a:ea typeface="Calibri"/>
                <a:cs typeface="Calibri"/>
                <a:sym typeface="Calibri"/>
              </a:rPr>
              <a:t> - </a:t>
            </a:r>
            <a:r>
              <a:rPr lang="en" sz="1800" u="sng">
                <a:solidFill>
                  <a:schemeClr val="lt1"/>
                </a:solidFill>
                <a:latin typeface="Calibri"/>
                <a:ea typeface="Calibri"/>
                <a:cs typeface="Calibri"/>
                <a:sym typeface="Calibri"/>
              </a:rPr>
              <a:t>Ridge Regression (65% Weight)</a:t>
            </a:r>
            <a:r>
              <a:rPr lang="en" sz="1800">
                <a:solidFill>
                  <a:schemeClr val="lt1"/>
                </a:solidFill>
                <a:latin typeface="Calibri"/>
                <a:ea typeface="Calibri"/>
                <a:cs typeface="Calibri"/>
                <a:sym typeface="Calibri"/>
              </a:rPr>
              <a:t>: Retains the baseline's ability to handle high-cardinality nicknames and linear trends efficiently.</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 sz="1800">
                <a:solidFill>
                  <a:schemeClr val="lt1"/>
                </a:solidFill>
                <a:latin typeface="Calibri"/>
                <a:ea typeface="Calibri"/>
                <a:cs typeface="Calibri"/>
                <a:sym typeface="Calibri"/>
              </a:rPr>
              <a:t>Component B </a:t>
            </a:r>
            <a:r>
              <a:rPr lang="en" sz="1800">
                <a:solidFill>
                  <a:schemeClr val="lt1"/>
                </a:solidFill>
                <a:latin typeface="Calibri"/>
                <a:ea typeface="Calibri"/>
                <a:cs typeface="Calibri"/>
                <a:sym typeface="Calibri"/>
              </a:rPr>
              <a:t>- </a:t>
            </a:r>
            <a:r>
              <a:rPr lang="en" sz="1800" u="sng">
                <a:solidFill>
                  <a:schemeClr val="lt1"/>
                </a:solidFill>
                <a:latin typeface="Calibri"/>
                <a:ea typeface="Calibri"/>
                <a:cs typeface="Calibri"/>
                <a:sym typeface="Calibri"/>
              </a:rPr>
              <a:t>Histogram Gradient Boosting (35% Weight)</a:t>
            </a:r>
            <a:r>
              <a:rPr lang="en" sz="1800">
                <a:solidFill>
                  <a:schemeClr val="lt1"/>
                </a:solidFill>
                <a:latin typeface="Calibri"/>
                <a:ea typeface="Calibri"/>
                <a:cs typeface="Calibri"/>
                <a:sym typeface="Calibri"/>
              </a:rPr>
              <a:t>: A non-linear tree-based model (HistGBM) that excels at finding complex interactions within the newly engineered turn-level features.</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b="1" lang="en" sz="1800" u="sng">
                <a:solidFill>
                  <a:schemeClr val="lt1"/>
                </a:solidFill>
                <a:latin typeface="Calibri"/>
                <a:ea typeface="Calibri"/>
                <a:cs typeface="Calibri"/>
                <a:sym typeface="Calibri"/>
              </a:rPr>
              <a:t>Why this works</a:t>
            </a:r>
            <a:r>
              <a:rPr lang="en" sz="1800">
                <a:solidFill>
                  <a:schemeClr val="lt1"/>
                </a:solidFill>
                <a:latin typeface="Calibri"/>
                <a:ea typeface="Calibri"/>
                <a:cs typeface="Calibri"/>
                <a:sym typeface="Calibri"/>
              </a:rPr>
              <a:t>: The blend captures the stability of the player's history while adjusting the prediction based on the specific 'skill' demonstrated in the turn data.</a:t>
            </a:r>
            <a:endParaRPr sz="1800">
              <a:solidFill>
                <a:schemeClr val="lt1"/>
              </a:solidFill>
              <a:latin typeface="Calibri"/>
              <a:ea typeface="Calibri"/>
              <a:cs typeface="Calibri"/>
              <a:sym typeface="Calibri"/>
            </a:endParaRPr>
          </a:p>
        </p:txBody>
      </p:sp>
      <p:cxnSp>
        <p:nvCxnSpPr>
          <p:cNvPr id="406" name="Google Shape;406;p52"/>
          <p:cNvCxnSpPr/>
          <p:nvPr/>
        </p:nvCxnSpPr>
        <p:spPr>
          <a:xfrm>
            <a:off x="225525" y="4552875"/>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07" name="Google Shape;407;p52"/>
          <p:cNvCxnSpPr/>
          <p:nvPr/>
        </p:nvCxnSpPr>
        <p:spPr>
          <a:xfrm>
            <a:off x="225525" y="209475"/>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3"/>
          <p:cNvSpPr txBox="1"/>
          <p:nvPr>
            <p:ph type="title"/>
          </p:nvPr>
        </p:nvSpPr>
        <p:spPr>
          <a:xfrm>
            <a:off x="684400" y="204550"/>
            <a:ext cx="7493700" cy="1517700"/>
          </a:xfrm>
          <a:prstGeom prst="rect">
            <a:avLst/>
          </a:prstGeom>
        </p:spPr>
        <p:txBody>
          <a:bodyPr anchorCtr="0" anchor="t" bIns="91425" lIns="91425" spcFirstLastPara="1" rIns="338700" wrap="square" tIns="91425">
            <a:spAutoFit/>
          </a:bodyPr>
          <a:lstStyle/>
          <a:p>
            <a:pPr indent="0" lvl="0" marL="0" rtl="0" algn="ctr">
              <a:lnSpc>
                <a:spcPct val="100000"/>
              </a:lnSpc>
              <a:spcBef>
                <a:spcPts val="0"/>
              </a:spcBef>
              <a:spcAft>
                <a:spcPts val="0"/>
              </a:spcAft>
              <a:buClr>
                <a:schemeClr val="lt1"/>
              </a:buClr>
              <a:buFont typeface="Arial"/>
              <a:buNone/>
            </a:pPr>
            <a:r>
              <a:rPr b="1" lang="en" sz="2800" u="sng">
                <a:solidFill>
                  <a:srgbClr val="00796B"/>
                </a:solidFill>
                <a:latin typeface="Comfortaa"/>
                <a:ea typeface="Comfortaa"/>
                <a:cs typeface="Comfortaa"/>
                <a:sym typeface="Comfortaa"/>
              </a:rPr>
              <a:t>Efforts: Turn-Level Feature Engineering</a:t>
            </a:r>
            <a:endParaRPr b="1" sz="1400" u="sng">
              <a:solidFill>
                <a:srgbClr val="00796B"/>
              </a:solidFill>
              <a:latin typeface="Comfortaa"/>
              <a:ea typeface="Comfortaa"/>
              <a:cs typeface="Comfortaa"/>
              <a:sym typeface="Comfortaa"/>
            </a:endParaRPr>
          </a:p>
          <a:p>
            <a:pPr indent="0" lvl="0" marL="0" rtl="0" algn="l">
              <a:spcBef>
                <a:spcPts val="0"/>
              </a:spcBef>
              <a:spcAft>
                <a:spcPts val="0"/>
              </a:spcAft>
              <a:buNone/>
            </a:pPr>
            <a:r>
              <a:t/>
            </a:r>
            <a:endParaRPr b="1"/>
          </a:p>
        </p:txBody>
      </p:sp>
      <p:sp>
        <p:nvSpPr>
          <p:cNvPr id="413" name="Google Shape;413;p53"/>
          <p:cNvSpPr txBox="1"/>
          <p:nvPr/>
        </p:nvSpPr>
        <p:spPr>
          <a:xfrm>
            <a:off x="5579200" y="4884975"/>
            <a:ext cx="3586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sp>
        <p:nvSpPr>
          <p:cNvPr id="414" name="Google Shape;414;p53"/>
          <p:cNvSpPr txBox="1"/>
          <p:nvPr/>
        </p:nvSpPr>
        <p:spPr>
          <a:xfrm>
            <a:off x="435700" y="1248725"/>
            <a:ext cx="7991100" cy="34350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Font typeface="Inter"/>
              <a:buChar char="●"/>
            </a:pPr>
            <a:r>
              <a:rPr b="1" lang="en" sz="1700" u="sng">
                <a:solidFill>
                  <a:schemeClr val="lt1"/>
                </a:solidFill>
                <a:latin typeface="Inter"/>
                <a:ea typeface="Inter"/>
                <a:cs typeface="Inter"/>
                <a:sym typeface="Inter"/>
              </a:rPr>
              <a:t>Aggregation Strategy</a:t>
            </a:r>
            <a:r>
              <a:rPr lang="en" sz="1700">
                <a:solidFill>
                  <a:schemeClr val="lt1"/>
                </a:solidFill>
                <a:latin typeface="Inter"/>
                <a:ea typeface="Inter"/>
                <a:cs typeface="Inter"/>
                <a:sym typeface="Inter"/>
              </a:rPr>
              <a:t>: We transformed the granular </a:t>
            </a:r>
            <a:r>
              <a:rPr lang="en" sz="1700">
                <a:solidFill>
                  <a:srgbClr val="00796B"/>
                </a:solidFill>
                <a:latin typeface="Inter"/>
                <a:ea typeface="Inter"/>
                <a:cs typeface="Inter"/>
                <a:sym typeface="Inter"/>
              </a:rPr>
              <a:t>turns.csv</a:t>
            </a:r>
            <a:r>
              <a:rPr lang="en" sz="1700">
                <a:solidFill>
                  <a:schemeClr val="lt1"/>
                </a:solidFill>
                <a:latin typeface="Inter"/>
                <a:ea typeface="Inter"/>
                <a:cs typeface="Inter"/>
                <a:sym typeface="Inter"/>
              </a:rPr>
              <a:t> data into a 'per-player-per-game' summary.</a:t>
            </a:r>
            <a:endParaRPr sz="1700">
              <a:solidFill>
                <a:schemeClr val="lt1"/>
              </a:solidFill>
              <a:latin typeface="Inter"/>
              <a:ea typeface="Inter"/>
              <a:cs typeface="Inter"/>
              <a:sym typeface="Inter"/>
            </a:endParaRPr>
          </a:p>
          <a:p>
            <a:pPr indent="0" lvl="0" marL="457200" rtl="0" algn="l">
              <a:spcBef>
                <a:spcPts val="0"/>
              </a:spcBef>
              <a:spcAft>
                <a:spcPts val="0"/>
              </a:spcAft>
              <a:buNone/>
            </a:pPr>
            <a:r>
              <a:t/>
            </a:r>
            <a:endParaRPr sz="1700">
              <a:solidFill>
                <a:schemeClr val="lt1"/>
              </a:solidFill>
              <a:latin typeface="Inter"/>
              <a:ea typeface="Inter"/>
              <a:cs typeface="Inter"/>
              <a:sym typeface="Inter"/>
            </a:endParaRPr>
          </a:p>
          <a:p>
            <a:pPr indent="-336550" lvl="0" marL="457200" rtl="0" algn="l">
              <a:spcBef>
                <a:spcPts val="0"/>
              </a:spcBef>
              <a:spcAft>
                <a:spcPts val="0"/>
              </a:spcAft>
              <a:buClr>
                <a:schemeClr val="lt1"/>
              </a:buClr>
              <a:buSzPts val="1700"/>
              <a:buFont typeface="Inter"/>
              <a:buChar char="●"/>
            </a:pPr>
            <a:r>
              <a:rPr b="1" lang="en" sz="1700" u="sng">
                <a:solidFill>
                  <a:schemeClr val="lt1"/>
                </a:solidFill>
                <a:latin typeface="Inter"/>
                <a:ea typeface="Inter"/>
                <a:cs typeface="Inter"/>
                <a:sym typeface="Inter"/>
              </a:rPr>
              <a:t>Key Metrics Created:</a:t>
            </a:r>
            <a:endParaRPr b="1" sz="1700" u="sng">
              <a:solidFill>
                <a:schemeClr val="lt1"/>
              </a:solidFill>
              <a:latin typeface="Inter"/>
              <a:ea typeface="Inter"/>
              <a:cs typeface="Inter"/>
              <a:sym typeface="Inter"/>
            </a:endParaRPr>
          </a:p>
          <a:p>
            <a:pPr indent="-336550" lvl="1" marL="914400" rtl="0" algn="l">
              <a:spcBef>
                <a:spcPts val="0"/>
              </a:spcBef>
              <a:spcAft>
                <a:spcPts val="0"/>
              </a:spcAft>
              <a:buClr>
                <a:schemeClr val="lt1"/>
              </a:buClr>
              <a:buSzPts val="1700"/>
              <a:buFont typeface="Inter"/>
              <a:buChar char="○"/>
            </a:pPr>
            <a:r>
              <a:rPr b="1" lang="en" sz="1700">
                <a:solidFill>
                  <a:schemeClr val="lt1"/>
                </a:solidFill>
                <a:latin typeface="Inter"/>
                <a:ea typeface="Inter"/>
                <a:cs typeface="Inter"/>
                <a:sym typeface="Inter"/>
              </a:rPr>
              <a:t>Scoring Efficiency</a:t>
            </a:r>
            <a:r>
              <a:rPr lang="en" sz="1700">
                <a:solidFill>
                  <a:schemeClr val="lt1"/>
                </a:solidFill>
                <a:latin typeface="Inter"/>
                <a:ea typeface="Inter"/>
                <a:cs typeface="Inter"/>
                <a:sym typeface="Inter"/>
              </a:rPr>
              <a:t>: Average points per turn and total game score.</a:t>
            </a:r>
            <a:endParaRPr sz="1700">
              <a:solidFill>
                <a:schemeClr val="lt1"/>
              </a:solidFill>
              <a:latin typeface="Inter"/>
              <a:ea typeface="Inter"/>
              <a:cs typeface="Inter"/>
              <a:sym typeface="Inter"/>
            </a:endParaRPr>
          </a:p>
          <a:p>
            <a:pPr indent="-336550" lvl="1" marL="914400" rtl="0" algn="l">
              <a:spcBef>
                <a:spcPts val="0"/>
              </a:spcBef>
              <a:spcAft>
                <a:spcPts val="0"/>
              </a:spcAft>
              <a:buClr>
                <a:schemeClr val="lt1"/>
              </a:buClr>
              <a:buSzPts val="1700"/>
              <a:buFont typeface="Inter"/>
              <a:buChar char="○"/>
            </a:pPr>
            <a:r>
              <a:rPr b="1" lang="en" sz="1700">
                <a:solidFill>
                  <a:schemeClr val="lt1"/>
                </a:solidFill>
                <a:latin typeface="Inter"/>
                <a:ea typeface="Inter"/>
                <a:cs typeface="Inter"/>
                <a:sym typeface="Inter"/>
              </a:rPr>
              <a:t>Strategic Choices</a:t>
            </a:r>
            <a:r>
              <a:rPr lang="en" sz="1700">
                <a:solidFill>
                  <a:schemeClr val="lt1"/>
                </a:solidFill>
                <a:latin typeface="Inter"/>
                <a:ea typeface="Inter"/>
                <a:cs typeface="Inter"/>
                <a:sym typeface="Inter"/>
              </a:rPr>
              <a:t>: Frequency of 'Exchange' moves (indicating tile management) and 'Pass' moves.</a:t>
            </a:r>
            <a:endParaRPr sz="1700">
              <a:solidFill>
                <a:schemeClr val="lt1"/>
              </a:solidFill>
              <a:latin typeface="Inter"/>
              <a:ea typeface="Inter"/>
              <a:cs typeface="Inter"/>
              <a:sym typeface="Inter"/>
            </a:endParaRPr>
          </a:p>
          <a:p>
            <a:pPr indent="-336550" lvl="1" marL="914400" rtl="0" algn="l">
              <a:spcBef>
                <a:spcPts val="0"/>
              </a:spcBef>
              <a:spcAft>
                <a:spcPts val="0"/>
              </a:spcAft>
              <a:buClr>
                <a:schemeClr val="lt1"/>
              </a:buClr>
              <a:buSzPts val="1700"/>
              <a:buFont typeface="Inter"/>
              <a:buChar char="○"/>
            </a:pPr>
            <a:r>
              <a:rPr b="1" lang="en" sz="1700">
                <a:solidFill>
                  <a:schemeClr val="lt1"/>
                </a:solidFill>
                <a:latin typeface="Inter"/>
                <a:ea typeface="Inter"/>
                <a:cs typeface="Inter"/>
                <a:sym typeface="Inter"/>
              </a:rPr>
              <a:t>Game Tempo</a:t>
            </a:r>
            <a:r>
              <a:rPr lang="en" sz="1700">
                <a:solidFill>
                  <a:schemeClr val="lt1"/>
                </a:solidFill>
                <a:latin typeface="Inter"/>
                <a:ea typeface="Inter"/>
                <a:cs typeface="Inter"/>
                <a:sym typeface="Inter"/>
              </a:rPr>
              <a:t>: Calculating moves per game and time management metrics.</a:t>
            </a:r>
            <a:endParaRPr sz="1700">
              <a:solidFill>
                <a:schemeClr val="lt1"/>
              </a:solidFill>
              <a:latin typeface="Inter"/>
              <a:ea typeface="Inter"/>
              <a:cs typeface="Inter"/>
              <a:sym typeface="Inter"/>
            </a:endParaRPr>
          </a:p>
          <a:p>
            <a:pPr indent="0" lvl="0" marL="914400" rtl="0" algn="l">
              <a:spcBef>
                <a:spcPts val="0"/>
              </a:spcBef>
              <a:spcAft>
                <a:spcPts val="0"/>
              </a:spcAft>
              <a:buNone/>
            </a:pPr>
            <a:r>
              <a:t/>
            </a:r>
            <a:endParaRPr sz="1700">
              <a:solidFill>
                <a:schemeClr val="lt1"/>
              </a:solidFill>
              <a:latin typeface="Inter"/>
              <a:ea typeface="Inter"/>
              <a:cs typeface="Inter"/>
              <a:sym typeface="Inter"/>
            </a:endParaRPr>
          </a:p>
          <a:p>
            <a:pPr indent="-336550" lvl="0" marL="457200" rtl="0" algn="l">
              <a:spcBef>
                <a:spcPts val="0"/>
              </a:spcBef>
              <a:spcAft>
                <a:spcPts val="0"/>
              </a:spcAft>
              <a:buClr>
                <a:schemeClr val="lt1"/>
              </a:buClr>
              <a:buSzPts val="1700"/>
              <a:buFont typeface="Inter"/>
              <a:buChar char="●"/>
            </a:pPr>
            <a:r>
              <a:rPr b="1" lang="en" sz="1700" u="sng">
                <a:solidFill>
                  <a:schemeClr val="lt1"/>
                </a:solidFill>
                <a:latin typeface="Inter"/>
                <a:ea typeface="Inter"/>
                <a:cs typeface="Inter"/>
                <a:sym typeface="Inter"/>
              </a:rPr>
              <a:t>Outcome</a:t>
            </a:r>
            <a:r>
              <a:rPr lang="en" sz="1700">
                <a:solidFill>
                  <a:schemeClr val="lt1"/>
                </a:solidFill>
                <a:latin typeface="Inter"/>
                <a:ea typeface="Inter"/>
                <a:cs typeface="Inter"/>
                <a:sym typeface="Inter"/>
              </a:rPr>
              <a:t>: This added 34 additional dimensions of data that were previously ignored by the baseline model.</a:t>
            </a:r>
            <a:endParaRPr sz="1700">
              <a:solidFill>
                <a:schemeClr val="lt1"/>
              </a:solidFill>
              <a:latin typeface="Inter"/>
              <a:ea typeface="Inter"/>
              <a:cs typeface="Inter"/>
              <a:sym typeface="Inter"/>
            </a:endParaRPr>
          </a:p>
        </p:txBody>
      </p:sp>
      <p:cxnSp>
        <p:nvCxnSpPr>
          <p:cNvPr id="415" name="Google Shape;415;p53"/>
          <p:cNvCxnSpPr/>
          <p:nvPr/>
        </p:nvCxnSpPr>
        <p:spPr>
          <a:xfrm>
            <a:off x="285450" y="4782125"/>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16" name="Google Shape;416;p53"/>
          <p:cNvCxnSpPr/>
          <p:nvPr/>
        </p:nvCxnSpPr>
        <p:spPr>
          <a:xfrm>
            <a:off x="285450" y="204550"/>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4"/>
          <p:cNvSpPr txBox="1"/>
          <p:nvPr>
            <p:ph type="title"/>
          </p:nvPr>
        </p:nvSpPr>
        <p:spPr>
          <a:xfrm>
            <a:off x="547000" y="291725"/>
            <a:ext cx="7816500" cy="7326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2800" u="sng">
                <a:solidFill>
                  <a:srgbClr val="00796B"/>
                </a:solidFill>
                <a:latin typeface="Comfortaa"/>
                <a:ea typeface="Comfortaa"/>
                <a:cs typeface="Comfortaa"/>
                <a:sym typeface="Comfortaa"/>
              </a:rPr>
              <a:t>Methodology</a:t>
            </a:r>
            <a:r>
              <a:rPr b="1" lang="en" sz="2800" u="sng">
                <a:solidFill>
                  <a:srgbClr val="00796B"/>
                </a:solidFill>
                <a:latin typeface="Comfortaa"/>
                <a:ea typeface="Comfortaa"/>
                <a:cs typeface="Comfortaa"/>
                <a:sym typeface="Comfortaa"/>
              </a:rPr>
              <a:t>: Feature Engineering Pipeline</a:t>
            </a:r>
            <a:endParaRPr b="1" sz="2800" u="sng">
              <a:solidFill>
                <a:srgbClr val="00796B"/>
              </a:solidFill>
              <a:latin typeface="Comfortaa"/>
              <a:ea typeface="Comfortaa"/>
              <a:cs typeface="Comfortaa"/>
              <a:sym typeface="Comfortaa"/>
            </a:endParaRPr>
          </a:p>
        </p:txBody>
      </p:sp>
      <p:sp>
        <p:nvSpPr>
          <p:cNvPr id="422" name="Google Shape;422;p54"/>
          <p:cNvSpPr txBox="1"/>
          <p:nvPr/>
        </p:nvSpPr>
        <p:spPr>
          <a:xfrm>
            <a:off x="797275" y="995575"/>
            <a:ext cx="7755900" cy="35763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Font typeface="Inter"/>
              <a:buChar char="●"/>
            </a:pPr>
            <a:r>
              <a:rPr b="1" lang="en" sz="1700" u="sng">
                <a:solidFill>
                  <a:schemeClr val="lt1"/>
                </a:solidFill>
                <a:latin typeface="Inter"/>
                <a:ea typeface="Inter"/>
                <a:cs typeface="Inter"/>
                <a:sym typeface="Inter"/>
              </a:rPr>
              <a:t>Preprocessing</a:t>
            </a:r>
            <a:r>
              <a:rPr lang="en" sz="1700">
                <a:solidFill>
                  <a:schemeClr val="lt1"/>
                </a:solidFill>
                <a:latin typeface="Inter"/>
                <a:ea typeface="Inter"/>
                <a:cs typeface="Inter"/>
                <a:sym typeface="Inter"/>
              </a:rPr>
              <a:t>: We implemented a dual-path pipeline to handle the 43 numeric and 7 categorical features.</a:t>
            </a:r>
            <a:endParaRPr sz="1700">
              <a:solidFill>
                <a:schemeClr val="lt1"/>
              </a:solidFill>
              <a:latin typeface="Inter"/>
              <a:ea typeface="Inter"/>
              <a:cs typeface="Inter"/>
              <a:sym typeface="Inter"/>
            </a:endParaRPr>
          </a:p>
          <a:p>
            <a:pPr indent="0" lvl="0" marL="457200" rtl="0" algn="l">
              <a:spcBef>
                <a:spcPts val="0"/>
              </a:spcBef>
              <a:spcAft>
                <a:spcPts val="0"/>
              </a:spcAft>
              <a:buNone/>
            </a:pPr>
            <a:r>
              <a:t/>
            </a:r>
            <a:endParaRPr sz="1700">
              <a:solidFill>
                <a:schemeClr val="lt1"/>
              </a:solidFill>
              <a:latin typeface="Inter"/>
              <a:ea typeface="Inter"/>
              <a:cs typeface="Inter"/>
              <a:sym typeface="Inter"/>
            </a:endParaRPr>
          </a:p>
          <a:p>
            <a:pPr indent="-336550" lvl="0" marL="457200" rtl="0" algn="l">
              <a:spcBef>
                <a:spcPts val="0"/>
              </a:spcBef>
              <a:spcAft>
                <a:spcPts val="0"/>
              </a:spcAft>
              <a:buClr>
                <a:schemeClr val="lt1"/>
              </a:buClr>
              <a:buSzPts val="1700"/>
              <a:buFont typeface="Inter"/>
              <a:buChar char="●"/>
            </a:pPr>
            <a:r>
              <a:rPr b="1" lang="en" sz="1700" u="sng">
                <a:solidFill>
                  <a:schemeClr val="lt1"/>
                </a:solidFill>
                <a:latin typeface="Inter"/>
                <a:ea typeface="Inter"/>
                <a:cs typeface="Inter"/>
                <a:sym typeface="Inter"/>
              </a:rPr>
              <a:t>Scaling</a:t>
            </a:r>
            <a:r>
              <a:rPr lang="en" sz="1700">
                <a:solidFill>
                  <a:schemeClr val="lt1"/>
                </a:solidFill>
                <a:latin typeface="Inter"/>
                <a:ea typeface="Inter"/>
                <a:cs typeface="Inter"/>
                <a:sym typeface="Inter"/>
              </a:rPr>
              <a:t>: Numeric features were processed using </a:t>
            </a:r>
            <a:r>
              <a:rPr b="1" lang="en" sz="1700">
                <a:solidFill>
                  <a:schemeClr val="lt1"/>
                </a:solidFill>
                <a:latin typeface="Inter"/>
                <a:ea typeface="Inter"/>
                <a:cs typeface="Inter"/>
                <a:sym typeface="Inter"/>
              </a:rPr>
              <a:t>StandardScaler</a:t>
            </a:r>
            <a:r>
              <a:rPr lang="en" sz="1700">
                <a:solidFill>
                  <a:schemeClr val="lt1"/>
                </a:solidFill>
                <a:latin typeface="Inter"/>
                <a:ea typeface="Inter"/>
                <a:cs typeface="Inter"/>
                <a:sym typeface="Inter"/>
              </a:rPr>
              <a:t> to ensure the Ridge component wasn't biased by feature magnitude.</a:t>
            </a:r>
            <a:endParaRPr sz="1700">
              <a:solidFill>
                <a:schemeClr val="lt1"/>
              </a:solidFill>
              <a:latin typeface="Inter"/>
              <a:ea typeface="Inter"/>
              <a:cs typeface="Inter"/>
              <a:sym typeface="Inter"/>
            </a:endParaRPr>
          </a:p>
          <a:p>
            <a:pPr indent="0" lvl="0" marL="457200" rtl="0" algn="l">
              <a:spcBef>
                <a:spcPts val="0"/>
              </a:spcBef>
              <a:spcAft>
                <a:spcPts val="0"/>
              </a:spcAft>
              <a:buNone/>
            </a:pPr>
            <a:r>
              <a:t/>
            </a:r>
            <a:endParaRPr sz="1700">
              <a:solidFill>
                <a:schemeClr val="lt1"/>
              </a:solidFill>
              <a:latin typeface="Inter"/>
              <a:ea typeface="Inter"/>
              <a:cs typeface="Inter"/>
              <a:sym typeface="Inter"/>
            </a:endParaRPr>
          </a:p>
          <a:p>
            <a:pPr indent="-336550" lvl="0" marL="457200" rtl="0" algn="l">
              <a:spcBef>
                <a:spcPts val="0"/>
              </a:spcBef>
              <a:spcAft>
                <a:spcPts val="0"/>
              </a:spcAft>
              <a:buClr>
                <a:schemeClr val="lt1"/>
              </a:buClr>
              <a:buSzPts val="1700"/>
              <a:buFont typeface="Inter"/>
              <a:buChar char="●"/>
            </a:pPr>
            <a:r>
              <a:rPr b="1" lang="en" sz="1700" u="sng">
                <a:solidFill>
                  <a:schemeClr val="lt1"/>
                </a:solidFill>
                <a:latin typeface="Inter"/>
                <a:ea typeface="Inter"/>
                <a:cs typeface="Inter"/>
                <a:sym typeface="Inter"/>
              </a:rPr>
              <a:t>Encoding</a:t>
            </a:r>
            <a:r>
              <a:rPr lang="en" sz="1700">
                <a:solidFill>
                  <a:schemeClr val="lt1"/>
                </a:solidFill>
                <a:latin typeface="Inter"/>
                <a:ea typeface="Inter"/>
                <a:cs typeface="Inter"/>
                <a:sym typeface="Inter"/>
              </a:rPr>
              <a:t>: For the HistGBM component, we utilized </a:t>
            </a:r>
            <a:r>
              <a:rPr b="1" lang="en" sz="1700">
                <a:solidFill>
                  <a:schemeClr val="lt1"/>
                </a:solidFill>
                <a:latin typeface="Inter"/>
                <a:ea typeface="Inter"/>
                <a:cs typeface="Inter"/>
                <a:sym typeface="Inter"/>
              </a:rPr>
              <a:t>Ordinal Encoding</a:t>
            </a:r>
            <a:r>
              <a:rPr lang="en" sz="1700">
                <a:solidFill>
                  <a:schemeClr val="lt1"/>
                </a:solidFill>
                <a:latin typeface="Inter"/>
                <a:ea typeface="Inter"/>
                <a:cs typeface="Inter"/>
                <a:sym typeface="Inter"/>
              </a:rPr>
              <a:t>, which is more efficient for tree-based models than One-Hot Encoding.</a:t>
            </a:r>
            <a:endParaRPr sz="1700">
              <a:solidFill>
                <a:schemeClr val="lt1"/>
              </a:solidFill>
              <a:latin typeface="Inter"/>
              <a:ea typeface="Inter"/>
              <a:cs typeface="Inter"/>
              <a:sym typeface="Inter"/>
            </a:endParaRPr>
          </a:p>
          <a:p>
            <a:pPr indent="0" lvl="0" marL="457200" rtl="0" algn="l">
              <a:spcBef>
                <a:spcPts val="0"/>
              </a:spcBef>
              <a:spcAft>
                <a:spcPts val="0"/>
              </a:spcAft>
              <a:buNone/>
            </a:pPr>
            <a:r>
              <a:t/>
            </a:r>
            <a:endParaRPr sz="1700">
              <a:solidFill>
                <a:schemeClr val="lt1"/>
              </a:solidFill>
              <a:latin typeface="Inter"/>
              <a:ea typeface="Inter"/>
              <a:cs typeface="Inter"/>
              <a:sym typeface="Inter"/>
            </a:endParaRPr>
          </a:p>
          <a:p>
            <a:pPr indent="-336550" lvl="0" marL="457200" rtl="0" algn="l">
              <a:spcBef>
                <a:spcPts val="0"/>
              </a:spcBef>
              <a:spcAft>
                <a:spcPts val="0"/>
              </a:spcAft>
              <a:buClr>
                <a:schemeClr val="lt1"/>
              </a:buClr>
              <a:buSzPts val="1700"/>
              <a:buFont typeface="Inter"/>
              <a:buChar char="●"/>
            </a:pPr>
            <a:r>
              <a:rPr b="1" lang="en" sz="1700" u="sng">
                <a:solidFill>
                  <a:schemeClr val="lt1"/>
                </a:solidFill>
                <a:latin typeface="Inter"/>
                <a:ea typeface="Inter"/>
                <a:cs typeface="Inter"/>
                <a:sym typeface="Inter"/>
              </a:rPr>
              <a:t>Missing Data</a:t>
            </a:r>
            <a:r>
              <a:rPr lang="en" sz="1700">
                <a:solidFill>
                  <a:schemeClr val="lt1"/>
                </a:solidFill>
                <a:latin typeface="Inter"/>
                <a:ea typeface="Inter"/>
                <a:cs typeface="Inter"/>
                <a:sym typeface="Inter"/>
              </a:rPr>
              <a:t>: We developed custom handling for cases where turn logs might be missing for specific games, ensuring the pipeline never crashes during inference.</a:t>
            </a:r>
            <a:endParaRPr sz="1700">
              <a:solidFill>
                <a:schemeClr val="lt1"/>
              </a:solidFill>
              <a:latin typeface="Inter"/>
              <a:ea typeface="Inter"/>
              <a:cs typeface="Inter"/>
              <a:sym typeface="Inter"/>
            </a:endParaRPr>
          </a:p>
        </p:txBody>
      </p:sp>
      <p:cxnSp>
        <p:nvCxnSpPr>
          <p:cNvPr id="423" name="Google Shape;423;p54"/>
          <p:cNvCxnSpPr/>
          <p:nvPr/>
        </p:nvCxnSpPr>
        <p:spPr>
          <a:xfrm>
            <a:off x="285450" y="21390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24" name="Google Shape;424;p54"/>
          <p:cNvCxnSpPr/>
          <p:nvPr/>
        </p:nvCxnSpPr>
        <p:spPr>
          <a:xfrm>
            <a:off x="377925" y="4705275"/>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5"/>
          <p:cNvSpPr txBox="1"/>
          <p:nvPr>
            <p:ph type="title"/>
          </p:nvPr>
        </p:nvSpPr>
        <p:spPr>
          <a:xfrm>
            <a:off x="284850" y="340125"/>
            <a:ext cx="8277300" cy="3795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2900" u="sng">
                <a:solidFill>
                  <a:srgbClr val="00796B"/>
                </a:solidFill>
                <a:latin typeface="Comfortaa"/>
                <a:ea typeface="Comfortaa"/>
                <a:cs typeface="Comfortaa"/>
                <a:sym typeface="Comfortaa"/>
              </a:rPr>
              <a:t>Methodology: Model Selection &amp; Tuning</a:t>
            </a:r>
            <a:endParaRPr b="1" sz="2900" u="sng">
              <a:solidFill>
                <a:srgbClr val="00796B"/>
              </a:solidFill>
              <a:latin typeface="Comfortaa"/>
              <a:ea typeface="Comfortaa"/>
              <a:cs typeface="Comfortaa"/>
              <a:sym typeface="Comfortaa"/>
            </a:endParaRPr>
          </a:p>
        </p:txBody>
      </p:sp>
      <p:sp>
        <p:nvSpPr>
          <p:cNvPr id="430" name="Google Shape;430;p55"/>
          <p:cNvSpPr txBox="1"/>
          <p:nvPr/>
        </p:nvSpPr>
        <p:spPr>
          <a:xfrm>
            <a:off x="413850" y="1021750"/>
            <a:ext cx="8316300" cy="3579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Inter"/>
              <a:buChar char="●"/>
            </a:pPr>
            <a:r>
              <a:rPr b="1" lang="en" sz="1800" u="sng">
                <a:solidFill>
                  <a:schemeClr val="lt1"/>
                </a:solidFill>
                <a:latin typeface="Inter"/>
                <a:ea typeface="Inter"/>
                <a:cs typeface="Inter"/>
                <a:sym typeface="Inter"/>
              </a:rPr>
              <a:t>Candidate Benchmarking</a:t>
            </a:r>
            <a:r>
              <a:rPr lang="en" sz="1800">
                <a:solidFill>
                  <a:schemeClr val="lt1"/>
                </a:solidFill>
                <a:latin typeface="Inter"/>
                <a:ea typeface="Inter"/>
                <a:cs typeface="Inter"/>
                <a:sym typeface="Inter"/>
              </a:rPr>
              <a:t>: We didn't stop at Ridge and HistGBM. We benchmarked several popular algorithms including XGBoost and LightGBM.</a:t>
            </a:r>
            <a:endParaRPr sz="1800">
              <a:solidFill>
                <a:schemeClr val="lt1"/>
              </a:solidFill>
              <a:latin typeface="Inter"/>
              <a:ea typeface="Inter"/>
              <a:cs typeface="Inter"/>
              <a:sym typeface="Inter"/>
            </a:endParaRPr>
          </a:p>
          <a:p>
            <a:pPr indent="0" lvl="0" marL="457200" rtl="0" algn="l">
              <a:spcBef>
                <a:spcPts val="0"/>
              </a:spcBef>
              <a:spcAft>
                <a:spcPts val="0"/>
              </a:spcAft>
              <a:buNone/>
            </a:pPr>
            <a:r>
              <a:t/>
            </a:r>
            <a:endParaRPr sz="1800">
              <a:solidFill>
                <a:schemeClr val="lt1"/>
              </a:solidFill>
              <a:latin typeface="Inter"/>
              <a:ea typeface="Inter"/>
              <a:cs typeface="Inter"/>
              <a:sym typeface="Inter"/>
            </a:endParaRPr>
          </a:p>
          <a:p>
            <a:pPr indent="-342900" lvl="0" marL="457200" rtl="0" algn="l">
              <a:spcBef>
                <a:spcPts val="0"/>
              </a:spcBef>
              <a:spcAft>
                <a:spcPts val="0"/>
              </a:spcAft>
              <a:buClr>
                <a:schemeClr val="lt1"/>
              </a:buClr>
              <a:buSzPts val="1800"/>
              <a:buFont typeface="Inter"/>
              <a:buChar char="●"/>
            </a:pPr>
            <a:r>
              <a:rPr b="1" lang="en" sz="1800" u="sng">
                <a:solidFill>
                  <a:schemeClr val="lt1"/>
                </a:solidFill>
                <a:latin typeface="Inter"/>
                <a:ea typeface="Inter"/>
                <a:cs typeface="Inter"/>
                <a:sym typeface="Inter"/>
              </a:rPr>
              <a:t>Observations</a:t>
            </a:r>
            <a:r>
              <a:rPr lang="en" sz="1800">
                <a:solidFill>
                  <a:schemeClr val="lt1"/>
                </a:solidFill>
                <a:latin typeface="Inter"/>
                <a:ea typeface="Inter"/>
                <a:cs typeface="Inter"/>
                <a:sym typeface="Inter"/>
              </a:rPr>
              <a:t>: Interestingly, while Boosting models are usually superior, the presence of player nicknames (high cardinality) made the linear Ridge model very competitive.</a:t>
            </a:r>
            <a:endParaRPr sz="1800">
              <a:solidFill>
                <a:schemeClr val="lt1"/>
              </a:solidFill>
              <a:latin typeface="Inter"/>
              <a:ea typeface="Inter"/>
              <a:cs typeface="Inter"/>
              <a:sym typeface="Inter"/>
            </a:endParaRPr>
          </a:p>
          <a:p>
            <a:pPr indent="0" lvl="0" marL="457200" rtl="0" algn="l">
              <a:spcBef>
                <a:spcPts val="0"/>
              </a:spcBef>
              <a:spcAft>
                <a:spcPts val="0"/>
              </a:spcAft>
              <a:buNone/>
            </a:pPr>
            <a:r>
              <a:t/>
            </a:r>
            <a:endParaRPr sz="1800">
              <a:solidFill>
                <a:schemeClr val="lt1"/>
              </a:solidFill>
              <a:latin typeface="Inter"/>
              <a:ea typeface="Inter"/>
              <a:cs typeface="Inter"/>
              <a:sym typeface="Inter"/>
            </a:endParaRPr>
          </a:p>
          <a:p>
            <a:pPr indent="-342900" lvl="0" marL="457200" rtl="0" algn="l">
              <a:spcBef>
                <a:spcPts val="0"/>
              </a:spcBef>
              <a:spcAft>
                <a:spcPts val="0"/>
              </a:spcAft>
              <a:buClr>
                <a:schemeClr val="lt1"/>
              </a:buClr>
              <a:buSzPts val="1800"/>
              <a:buFont typeface="Inter"/>
              <a:buChar char="●"/>
            </a:pPr>
            <a:r>
              <a:rPr b="1" lang="en" sz="1800" u="sng">
                <a:solidFill>
                  <a:schemeClr val="lt1"/>
                </a:solidFill>
                <a:latin typeface="Inter"/>
                <a:ea typeface="Inter"/>
                <a:cs typeface="Inter"/>
                <a:sym typeface="Inter"/>
              </a:rPr>
              <a:t>Hyperparameter Tuning</a:t>
            </a:r>
            <a:r>
              <a:rPr lang="en" sz="1800">
                <a:solidFill>
                  <a:schemeClr val="lt1"/>
                </a:solidFill>
                <a:latin typeface="Inter"/>
                <a:ea typeface="Inter"/>
                <a:cs typeface="Inter"/>
                <a:sym typeface="Inter"/>
              </a:rPr>
              <a:t>: We tuned the regularization alpha for Ridge and the learning rate/max depth for the Boosting components to find the optimal 'sweet spot' for our ensemble weights.</a:t>
            </a:r>
            <a:endParaRPr sz="1800">
              <a:solidFill>
                <a:schemeClr val="lt1"/>
              </a:solidFill>
              <a:latin typeface="Inter"/>
              <a:ea typeface="Inter"/>
              <a:cs typeface="Inter"/>
              <a:sym typeface="Inter"/>
            </a:endParaRPr>
          </a:p>
        </p:txBody>
      </p:sp>
      <p:cxnSp>
        <p:nvCxnSpPr>
          <p:cNvPr id="431" name="Google Shape;431;p55"/>
          <p:cNvCxnSpPr/>
          <p:nvPr/>
        </p:nvCxnSpPr>
        <p:spPr>
          <a:xfrm>
            <a:off x="285450" y="22295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32" name="Google Shape;432;p55"/>
          <p:cNvCxnSpPr/>
          <p:nvPr/>
        </p:nvCxnSpPr>
        <p:spPr>
          <a:xfrm>
            <a:off x="377925" y="4705275"/>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6"/>
          <p:cNvSpPr txBox="1"/>
          <p:nvPr>
            <p:ph type="title"/>
          </p:nvPr>
        </p:nvSpPr>
        <p:spPr>
          <a:xfrm>
            <a:off x="501800" y="285900"/>
            <a:ext cx="7924800" cy="7851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3000" u="sng">
                <a:solidFill>
                  <a:srgbClr val="00796B"/>
                </a:solidFill>
                <a:latin typeface="Comfortaa"/>
                <a:ea typeface="Comfortaa"/>
                <a:cs typeface="Comfortaa"/>
                <a:sym typeface="Comfortaa"/>
              </a:rPr>
              <a:t>Methodology: Ensuring Pipeline Robustness</a:t>
            </a:r>
            <a:endParaRPr b="1" sz="3000" u="sng">
              <a:solidFill>
                <a:srgbClr val="00796B"/>
              </a:solidFill>
              <a:latin typeface="Comfortaa"/>
              <a:ea typeface="Comfortaa"/>
              <a:cs typeface="Comfortaa"/>
              <a:sym typeface="Comfortaa"/>
            </a:endParaRPr>
          </a:p>
        </p:txBody>
      </p:sp>
      <p:sp>
        <p:nvSpPr>
          <p:cNvPr id="438" name="Google Shape;438;p56"/>
          <p:cNvSpPr txBox="1"/>
          <p:nvPr/>
        </p:nvSpPr>
        <p:spPr>
          <a:xfrm>
            <a:off x="435700" y="1437772"/>
            <a:ext cx="8244000" cy="3037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Inter"/>
              <a:buChar char="●"/>
            </a:pPr>
            <a:r>
              <a:rPr b="1" lang="en" sz="1800" u="sng">
                <a:solidFill>
                  <a:schemeClr val="lt1"/>
                </a:solidFill>
                <a:latin typeface="Inter"/>
                <a:ea typeface="Inter"/>
                <a:cs typeface="Inter"/>
                <a:sym typeface="Inter"/>
              </a:rPr>
              <a:t>Cold-Start Handling</a:t>
            </a:r>
            <a:r>
              <a:rPr lang="en" sz="1800">
                <a:solidFill>
                  <a:schemeClr val="lt1"/>
                </a:solidFill>
                <a:latin typeface="Inter"/>
                <a:ea typeface="Inter"/>
                <a:cs typeface="Inter"/>
                <a:sym typeface="Inter"/>
              </a:rPr>
              <a:t>: One of our major efforts was ensuring the model could handle 'unseen' players in the test set. We used categorical mapping that defaults unknown nicknames to a global average.</a:t>
            </a:r>
            <a:endParaRPr sz="1800">
              <a:solidFill>
                <a:schemeClr val="lt1"/>
              </a:solidFill>
              <a:latin typeface="Inter"/>
              <a:ea typeface="Inter"/>
              <a:cs typeface="Inter"/>
              <a:sym typeface="Inter"/>
            </a:endParaRPr>
          </a:p>
          <a:p>
            <a:pPr indent="0" lvl="0" marL="457200" rtl="0" algn="l">
              <a:spcBef>
                <a:spcPts val="0"/>
              </a:spcBef>
              <a:spcAft>
                <a:spcPts val="0"/>
              </a:spcAft>
              <a:buNone/>
            </a:pPr>
            <a:r>
              <a:t/>
            </a:r>
            <a:endParaRPr sz="1800">
              <a:solidFill>
                <a:schemeClr val="lt1"/>
              </a:solidFill>
              <a:latin typeface="Inter"/>
              <a:ea typeface="Inter"/>
              <a:cs typeface="Inter"/>
              <a:sym typeface="Inter"/>
            </a:endParaRPr>
          </a:p>
          <a:p>
            <a:pPr indent="-342900" lvl="0" marL="457200" rtl="0" algn="l">
              <a:spcBef>
                <a:spcPts val="0"/>
              </a:spcBef>
              <a:spcAft>
                <a:spcPts val="0"/>
              </a:spcAft>
              <a:buClr>
                <a:schemeClr val="lt1"/>
              </a:buClr>
              <a:buSzPts val="1800"/>
              <a:buFont typeface="Inter"/>
              <a:buChar char="●"/>
            </a:pPr>
            <a:r>
              <a:rPr b="1" lang="en" sz="1800" u="sng">
                <a:solidFill>
                  <a:schemeClr val="lt1"/>
                </a:solidFill>
                <a:latin typeface="Inter"/>
                <a:ea typeface="Inter"/>
                <a:cs typeface="Inter"/>
                <a:sym typeface="Inter"/>
              </a:rPr>
              <a:t>Automated Merging</a:t>
            </a:r>
            <a:r>
              <a:rPr lang="en" sz="1800">
                <a:solidFill>
                  <a:schemeClr val="lt1"/>
                </a:solidFill>
                <a:latin typeface="Inter"/>
                <a:ea typeface="Inter"/>
                <a:cs typeface="Inter"/>
                <a:sym typeface="Inter"/>
              </a:rPr>
              <a:t>: We built a dedicated </a:t>
            </a:r>
            <a:r>
              <a:rPr lang="en" sz="1800">
                <a:solidFill>
                  <a:srgbClr val="00796B"/>
                </a:solidFill>
                <a:latin typeface="Inter"/>
                <a:ea typeface="Inter"/>
                <a:cs typeface="Inter"/>
                <a:sym typeface="Inter"/>
              </a:rPr>
              <a:t>merge_optional_features </a:t>
            </a:r>
            <a:r>
              <a:rPr lang="en" sz="1800">
                <a:solidFill>
                  <a:schemeClr val="lt1"/>
                </a:solidFill>
                <a:latin typeface="Inter"/>
                <a:ea typeface="Inter"/>
                <a:cs typeface="Inter"/>
                <a:sym typeface="Inter"/>
              </a:rPr>
              <a:t>function that safely combines the turn-level aggregates with the game metadata, handling key mismatches and duplicate indices.</a:t>
            </a:r>
            <a:endParaRPr sz="1800">
              <a:solidFill>
                <a:schemeClr val="lt1"/>
              </a:solidFill>
              <a:latin typeface="Inter"/>
              <a:ea typeface="Inter"/>
              <a:cs typeface="Inter"/>
              <a:sym typeface="Inter"/>
            </a:endParaRPr>
          </a:p>
          <a:p>
            <a:pPr indent="0" lvl="0" marL="457200" rtl="0" algn="l">
              <a:spcBef>
                <a:spcPts val="0"/>
              </a:spcBef>
              <a:spcAft>
                <a:spcPts val="0"/>
              </a:spcAft>
              <a:buNone/>
            </a:pPr>
            <a:r>
              <a:t/>
            </a:r>
            <a:endParaRPr sz="1800">
              <a:solidFill>
                <a:schemeClr val="lt1"/>
              </a:solidFill>
              <a:latin typeface="Inter"/>
              <a:ea typeface="Inter"/>
              <a:cs typeface="Inter"/>
              <a:sym typeface="Inter"/>
            </a:endParaRPr>
          </a:p>
          <a:p>
            <a:pPr indent="-342900" lvl="0" marL="457200" rtl="0" algn="l">
              <a:spcBef>
                <a:spcPts val="0"/>
              </a:spcBef>
              <a:spcAft>
                <a:spcPts val="0"/>
              </a:spcAft>
              <a:buClr>
                <a:schemeClr val="lt1"/>
              </a:buClr>
              <a:buSzPts val="1800"/>
              <a:buFont typeface="Inter"/>
              <a:buChar char="●"/>
            </a:pPr>
            <a:r>
              <a:rPr b="1" lang="en" sz="1800" u="sng">
                <a:solidFill>
                  <a:schemeClr val="lt1"/>
                </a:solidFill>
                <a:latin typeface="Inter"/>
                <a:ea typeface="Inter"/>
                <a:cs typeface="Inter"/>
                <a:sym typeface="Inter"/>
              </a:rPr>
              <a:t>Inference Speed</a:t>
            </a:r>
            <a:r>
              <a:rPr lang="en" sz="1800">
                <a:solidFill>
                  <a:schemeClr val="lt1"/>
                </a:solidFill>
                <a:latin typeface="Inter"/>
                <a:ea typeface="Inter"/>
                <a:cs typeface="Inter"/>
                <a:sym typeface="Inter"/>
              </a:rPr>
              <a:t>: Despite the complexity of the ensemble, the pipeline is optimized for rapid prediction, suitable for real-time rating updates.</a:t>
            </a:r>
            <a:endParaRPr sz="1800">
              <a:solidFill>
                <a:schemeClr val="lt1"/>
              </a:solidFill>
              <a:latin typeface="Inter"/>
              <a:ea typeface="Inter"/>
              <a:cs typeface="Inter"/>
              <a:sym typeface="Inter"/>
            </a:endParaRPr>
          </a:p>
        </p:txBody>
      </p:sp>
      <p:cxnSp>
        <p:nvCxnSpPr>
          <p:cNvPr id="439" name="Google Shape;439;p56"/>
          <p:cNvCxnSpPr/>
          <p:nvPr/>
        </p:nvCxnSpPr>
        <p:spPr>
          <a:xfrm>
            <a:off x="377925" y="15635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40" name="Google Shape;440;p56"/>
          <p:cNvCxnSpPr/>
          <p:nvPr/>
        </p:nvCxnSpPr>
        <p:spPr>
          <a:xfrm>
            <a:off x="377925" y="4705275"/>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7"/>
          <p:cNvSpPr txBox="1"/>
          <p:nvPr/>
        </p:nvSpPr>
        <p:spPr>
          <a:xfrm>
            <a:off x="432144" y="285900"/>
            <a:ext cx="4443300" cy="13314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n" sz="3200" u="sng">
                <a:solidFill>
                  <a:srgbClr val="00796B"/>
                </a:solidFill>
                <a:latin typeface="Comfortaa"/>
                <a:ea typeface="Comfortaa"/>
                <a:cs typeface="Comfortaa"/>
                <a:sym typeface="Comfortaa"/>
              </a:rPr>
              <a:t>Results: Performance Comparison</a:t>
            </a:r>
            <a:endParaRPr b="1" sz="3200" u="sng">
              <a:solidFill>
                <a:srgbClr val="00796B"/>
              </a:solidFill>
              <a:latin typeface="Comfortaa"/>
              <a:ea typeface="Comfortaa"/>
              <a:cs typeface="Comfortaa"/>
              <a:sym typeface="Comfortaa"/>
            </a:endParaRPr>
          </a:p>
        </p:txBody>
      </p:sp>
      <p:sp>
        <p:nvSpPr>
          <p:cNvPr id="446" name="Google Shape;446;p57"/>
          <p:cNvSpPr txBox="1"/>
          <p:nvPr/>
        </p:nvSpPr>
        <p:spPr>
          <a:xfrm>
            <a:off x="284850" y="2636275"/>
            <a:ext cx="4443300" cy="2000700"/>
          </a:xfrm>
          <a:prstGeom prst="rect">
            <a:avLst/>
          </a:prstGeom>
          <a:noFill/>
          <a:ln>
            <a:noFill/>
          </a:ln>
        </p:spPr>
        <p:txBody>
          <a:bodyPr anchorCtr="0" anchor="t" bIns="0" lIns="0" spcFirstLastPara="1" rIns="182875" wrap="square" tIns="0">
            <a:noAutofit/>
          </a:bodyPr>
          <a:lstStyle/>
          <a:p>
            <a:pPr indent="-330200" lvl="0" marL="457200" rtl="0" algn="l">
              <a:spcBef>
                <a:spcPts val="0"/>
              </a:spcBef>
              <a:spcAft>
                <a:spcPts val="0"/>
              </a:spcAft>
              <a:buClr>
                <a:schemeClr val="lt1"/>
              </a:buClr>
              <a:buSzPts val="1600"/>
              <a:buFont typeface="Google Sans Text"/>
              <a:buChar char="●"/>
            </a:pPr>
            <a:r>
              <a:rPr b="1" lang="en" sz="1600" u="sng">
                <a:solidFill>
                  <a:schemeClr val="lt1"/>
                </a:solidFill>
                <a:latin typeface="Google Sans Text"/>
                <a:ea typeface="Google Sans Text"/>
                <a:cs typeface="Google Sans Text"/>
                <a:sym typeface="Google Sans Text"/>
              </a:rPr>
              <a:t>Analysis:</a:t>
            </a:r>
            <a:r>
              <a:rPr lang="en" sz="1600" u="sng">
                <a:solidFill>
                  <a:schemeClr val="lt1"/>
                </a:solidFill>
                <a:latin typeface="Google Sans Text"/>
                <a:ea typeface="Google Sans Text"/>
                <a:cs typeface="Google Sans Text"/>
                <a:sym typeface="Google Sans Text"/>
              </a:rPr>
              <a:t> </a:t>
            </a:r>
            <a:endParaRPr sz="1200" u="sng">
              <a:solidFill>
                <a:schemeClr val="lt1"/>
              </a:solidFill>
              <a:latin typeface="Google Sans Text"/>
              <a:ea typeface="Google Sans Text"/>
              <a:cs typeface="Google Sans Text"/>
              <a:sym typeface="Google Sans Text"/>
            </a:endParaRPr>
          </a:p>
          <a:p>
            <a:pPr indent="0" lvl="0" marL="457200" rtl="0" algn="l">
              <a:spcBef>
                <a:spcPts val="0"/>
              </a:spcBef>
              <a:spcAft>
                <a:spcPts val="0"/>
              </a:spcAft>
              <a:buNone/>
            </a:pPr>
            <a:r>
              <a:rPr lang="en">
                <a:solidFill>
                  <a:schemeClr val="lt1"/>
                </a:solidFill>
                <a:latin typeface="Google Sans Text"/>
                <a:ea typeface="Google Sans Text"/>
                <a:cs typeface="Google Sans Text"/>
                <a:sym typeface="Google Sans Text"/>
              </a:rPr>
              <a:t>By incorporating turn-level aggregates, we reduced the prediction error by approximately 3.6%.</a:t>
            </a:r>
            <a:endParaRPr>
              <a:solidFill>
                <a:schemeClr val="lt1"/>
              </a:solidFill>
              <a:latin typeface="Google Sans Text"/>
              <a:ea typeface="Google Sans Text"/>
              <a:cs typeface="Google Sans Text"/>
              <a:sym typeface="Google Sans Text"/>
            </a:endParaRPr>
          </a:p>
          <a:p>
            <a:pPr indent="0" lvl="0" marL="0" rtl="0" algn="l">
              <a:spcBef>
                <a:spcPts val="0"/>
              </a:spcBef>
              <a:spcAft>
                <a:spcPts val="0"/>
              </a:spcAft>
              <a:buNone/>
            </a:pPr>
            <a:r>
              <a:t/>
            </a:r>
            <a:endParaRPr>
              <a:solidFill>
                <a:schemeClr val="lt1"/>
              </a:solidFill>
              <a:latin typeface="Google Sans Text"/>
              <a:ea typeface="Google Sans Text"/>
              <a:cs typeface="Google Sans Text"/>
              <a:sym typeface="Google Sans Text"/>
            </a:endParaRPr>
          </a:p>
          <a:p>
            <a:pPr indent="-330200" lvl="0" marL="457200" rtl="0" algn="l">
              <a:spcBef>
                <a:spcPts val="0"/>
              </a:spcBef>
              <a:spcAft>
                <a:spcPts val="0"/>
              </a:spcAft>
              <a:buClr>
                <a:schemeClr val="lt1"/>
              </a:buClr>
              <a:buSzPts val="1600"/>
              <a:buFont typeface="Google Sans Text"/>
              <a:buChar char="●"/>
            </a:pPr>
            <a:r>
              <a:rPr b="1" lang="en" sz="1600" u="sng">
                <a:solidFill>
                  <a:schemeClr val="lt1"/>
                </a:solidFill>
                <a:latin typeface="Google Sans Text"/>
                <a:ea typeface="Google Sans Text"/>
                <a:cs typeface="Google Sans Text"/>
                <a:sym typeface="Google Sans Text"/>
              </a:rPr>
              <a:t>Significance: </a:t>
            </a:r>
            <a:endParaRPr b="1" sz="1200" u="sng">
              <a:solidFill>
                <a:schemeClr val="lt1"/>
              </a:solidFill>
              <a:latin typeface="Google Sans Text"/>
              <a:ea typeface="Google Sans Text"/>
              <a:cs typeface="Google Sans Text"/>
              <a:sym typeface="Google Sans Text"/>
            </a:endParaRPr>
          </a:p>
          <a:p>
            <a:pPr indent="0" lvl="0" marL="457200" rtl="0" algn="l">
              <a:spcBef>
                <a:spcPts val="0"/>
              </a:spcBef>
              <a:spcAft>
                <a:spcPts val="0"/>
              </a:spcAft>
              <a:buNone/>
            </a:pPr>
            <a:r>
              <a:rPr lang="en">
                <a:solidFill>
                  <a:schemeClr val="lt1"/>
                </a:solidFill>
                <a:latin typeface="Google Sans Text"/>
                <a:ea typeface="Google Sans Text"/>
                <a:cs typeface="Google Sans Text"/>
                <a:sym typeface="Google Sans Text"/>
              </a:rPr>
              <a:t>In the context of Elo ratings, a 5-point reduction in RMSE is significant, as it represents a much tighter fit to the player's actual skill level compared to just looking at their nickname.</a:t>
            </a:r>
            <a:endParaRPr>
              <a:solidFill>
                <a:schemeClr val="lt1"/>
              </a:solidFill>
              <a:latin typeface="Google Sans Text"/>
              <a:ea typeface="Google Sans Text"/>
              <a:cs typeface="Google Sans Text"/>
              <a:sym typeface="Google Sans Text"/>
            </a:endParaRPr>
          </a:p>
          <a:p>
            <a:pPr indent="0" lvl="0" marL="0" rtl="0" algn="l">
              <a:spcBef>
                <a:spcPts val="0"/>
              </a:spcBef>
              <a:spcAft>
                <a:spcPts val="0"/>
              </a:spcAft>
              <a:buNone/>
            </a:pPr>
            <a:r>
              <a:t/>
            </a:r>
            <a:endParaRPr sz="1200">
              <a:solidFill>
                <a:schemeClr val="lt1"/>
              </a:solidFill>
              <a:latin typeface="Google Sans Text"/>
              <a:ea typeface="Google Sans Text"/>
              <a:cs typeface="Google Sans Text"/>
              <a:sym typeface="Google Sans Text"/>
            </a:endParaRPr>
          </a:p>
        </p:txBody>
      </p:sp>
      <p:sp>
        <p:nvSpPr>
          <p:cNvPr id="447" name="Google Shape;447;p57"/>
          <p:cNvSpPr txBox="1"/>
          <p:nvPr/>
        </p:nvSpPr>
        <p:spPr>
          <a:xfrm>
            <a:off x="284861" y="1618205"/>
            <a:ext cx="3966300" cy="846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lt1"/>
              </a:buClr>
              <a:buSzPts val="1600"/>
              <a:buFont typeface="Google Sans Text"/>
              <a:buChar char="●"/>
            </a:pPr>
            <a:r>
              <a:rPr b="1" lang="en" sz="1600" u="sng">
                <a:solidFill>
                  <a:schemeClr val="lt1"/>
                </a:solidFill>
                <a:latin typeface="Google Sans Text"/>
                <a:ea typeface="Google Sans Text"/>
                <a:cs typeface="Google Sans Text"/>
                <a:sym typeface="Google Sans Text"/>
              </a:rPr>
              <a:t>Quantifiable Improvement:</a:t>
            </a:r>
            <a:endParaRPr b="1" sz="1600" u="sng">
              <a:solidFill>
                <a:schemeClr val="lt1"/>
              </a:solidFill>
              <a:latin typeface="Google Sans Text"/>
              <a:ea typeface="Google Sans Text"/>
              <a:cs typeface="Google Sans Text"/>
              <a:sym typeface="Google Sans Text"/>
            </a:endParaRPr>
          </a:p>
          <a:p>
            <a:pPr indent="-317500" lvl="1" marL="914400" rtl="0" algn="l">
              <a:spcBef>
                <a:spcPts val="0"/>
              </a:spcBef>
              <a:spcAft>
                <a:spcPts val="0"/>
              </a:spcAft>
              <a:buClr>
                <a:schemeClr val="lt1"/>
              </a:buClr>
              <a:buSzPts val="1400"/>
              <a:buFont typeface="Google Sans Text"/>
              <a:buChar char="○"/>
            </a:pPr>
            <a:r>
              <a:rPr lang="en">
                <a:solidFill>
                  <a:schemeClr val="lt1"/>
                </a:solidFill>
                <a:latin typeface="Google Sans Text"/>
                <a:ea typeface="Google Sans Text"/>
                <a:cs typeface="Google Sans Text"/>
                <a:sym typeface="Google Sans Text"/>
              </a:rPr>
              <a:t>Baseline(</a:t>
            </a:r>
            <a:r>
              <a:rPr b="1" lang="en">
                <a:solidFill>
                  <a:schemeClr val="lt1"/>
                </a:solidFill>
                <a:latin typeface="Google Sans Text"/>
                <a:ea typeface="Google Sans Text"/>
                <a:cs typeface="Google Sans Text"/>
                <a:sym typeface="Google Sans Text"/>
              </a:rPr>
              <a:t>ridge_onehot</a:t>
            </a:r>
            <a:r>
              <a:rPr lang="en">
                <a:solidFill>
                  <a:schemeClr val="lt1"/>
                </a:solidFill>
                <a:latin typeface="Google Sans Text"/>
                <a:ea typeface="Google Sans Text"/>
                <a:cs typeface="Google Sans Text"/>
                <a:sym typeface="Google Sans Text"/>
              </a:rPr>
              <a:t>) RMSE: 147.23</a:t>
            </a:r>
            <a:endParaRPr>
              <a:solidFill>
                <a:schemeClr val="lt1"/>
              </a:solidFill>
              <a:latin typeface="Google Sans Text"/>
              <a:ea typeface="Google Sans Text"/>
              <a:cs typeface="Google Sans Text"/>
              <a:sym typeface="Google Sans Text"/>
            </a:endParaRPr>
          </a:p>
          <a:p>
            <a:pPr indent="-317500" lvl="1" marL="914400" rtl="0" algn="l">
              <a:spcBef>
                <a:spcPts val="0"/>
              </a:spcBef>
              <a:spcAft>
                <a:spcPts val="0"/>
              </a:spcAft>
              <a:buClr>
                <a:schemeClr val="lt1"/>
              </a:buClr>
              <a:buSzPts val="1400"/>
              <a:buFont typeface="Google Sans Text"/>
              <a:buChar char="○"/>
            </a:pPr>
            <a:r>
              <a:rPr lang="en">
                <a:solidFill>
                  <a:schemeClr val="lt1"/>
                </a:solidFill>
                <a:latin typeface="Google Sans Text"/>
                <a:ea typeface="Google Sans Text"/>
                <a:cs typeface="Google Sans Text"/>
                <a:sym typeface="Google Sans Text"/>
              </a:rPr>
              <a:t>Final Ensemble RMSE: 141.94</a:t>
            </a:r>
            <a:endParaRPr>
              <a:solidFill>
                <a:schemeClr val="lt1"/>
              </a:solidFill>
              <a:latin typeface="Google Sans Text"/>
              <a:ea typeface="Google Sans Text"/>
              <a:cs typeface="Google Sans Text"/>
              <a:sym typeface="Google Sans Text"/>
            </a:endParaRPr>
          </a:p>
        </p:txBody>
      </p:sp>
      <p:pic>
        <p:nvPicPr>
          <p:cNvPr descr="baseline_vs_final_comparison.png" id="448" name="Google Shape;448;p57"/>
          <p:cNvPicPr preferRelativeResize="0"/>
          <p:nvPr/>
        </p:nvPicPr>
        <p:blipFill rotWithShape="1">
          <a:blip r:embed="rId3">
            <a:alphaModFix/>
          </a:blip>
          <a:srcRect b="0" l="0" r="49416" t="0"/>
          <a:stretch/>
        </p:blipFill>
        <p:spPr>
          <a:xfrm>
            <a:off x="5514926" y="221325"/>
            <a:ext cx="3091473" cy="2254899"/>
          </a:xfrm>
          <a:prstGeom prst="rect">
            <a:avLst/>
          </a:prstGeom>
          <a:noFill/>
          <a:ln>
            <a:noFill/>
          </a:ln>
        </p:spPr>
      </p:pic>
      <p:pic>
        <p:nvPicPr>
          <p:cNvPr descr="baseline_vs_final_comparison.png" id="449" name="Google Shape;449;p57"/>
          <p:cNvPicPr preferRelativeResize="0"/>
          <p:nvPr/>
        </p:nvPicPr>
        <p:blipFill rotWithShape="1">
          <a:blip r:embed="rId3">
            <a:alphaModFix/>
          </a:blip>
          <a:srcRect b="0" l="49416" r="0" t="0"/>
          <a:stretch/>
        </p:blipFill>
        <p:spPr>
          <a:xfrm>
            <a:off x="5514925" y="2702701"/>
            <a:ext cx="3091473" cy="2254899"/>
          </a:xfrm>
          <a:prstGeom prst="rect">
            <a:avLst/>
          </a:prstGeom>
          <a:noFill/>
          <a:ln>
            <a:noFill/>
          </a:ln>
        </p:spPr>
      </p:pic>
      <p:cxnSp>
        <p:nvCxnSpPr>
          <p:cNvPr id="450" name="Google Shape;450;p57"/>
          <p:cNvCxnSpPr/>
          <p:nvPr/>
        </p:nvCxnSpPr>
        <p:spPr>
          <a:xfrm>
            <a:off x="285450" y="502565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51" name="Google Shape;451;p57"/>
          <p:cNvCxnSpPr/>
          <p:nvPr/>
        </p:nvCxnSpPr>
        <p:spPr>
          <a:xfrm>
            <a:off x="285450" y="121288"/>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8"/>
          <p:cNvSpPr txBox="1"/>
          <p:nvPr>
            <p:ph type="title"/>
          </p:nvPr>
        </p:nvSpPr>
        <p:spPr>
          <a:xfrm>
            <a:off x="591450" y="274561"/>
            <a:ext cx="7961100" cy="9420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u="sng">
                <a:solidFill>
                  <a:srgbClr val="00796B"/>
                </a:solidFill>
                <a:latin typeface="Comfortaa"/>
                <a:ea typeface="Comfortaa"/>
                <a:cs typeface="Comfortaa"/>
                <a:sym typeface="Comfortaa"/>
              </a:rPr>
              <a:t>Results: Validation Stability Analysis</a:t>
            </a:r>
            <a:endParaRPr b="1" u="sng">
              <a:solidFill>
                <a:srgbClr val="00796B"/>
              </a:solidFill>
              <a:latin typeface="Comfortaa"/>
              <a:ea typeface="Comfortaa"/>
              <a:cs typeface="Comfortaa"/>
              <a:sym typeface="Comfortaa"/>
            </a:endParaRPr>
          </a:p>
        </p:txBody>
      </p:sp>
      <p:pic>
        <p:nvPicPr>
          <p:cNvPr descr="final_foldwise_rmse_heatmap.png" id="457" name="Google Shape;457;p58"/>
          <p:cNvPicPr preferRelativeResize="0"/>
          <p:nvPr/>
        </p:nvPicPr>
        <p:blipFill rotWithShape="1">
          <a:blip r:embed="rId3">
            <a:alphaModFix/>
          </a:blip>
          <a:srcRect b="0" l="0" r="0" t="0"/>
          <a:stretch/>
        </p:blipFill>
        <p:spPr>
          <a:xfrm>
            <a:off x="3933725" y="1394243"/>
            <a:ext cx="5073752" cy="2957119"/>
          </a:xfrm>
          <a:prstGeom prst="rect">
            <a:avLst/>
          </a:prstGeom>
          <a:noFill/>
          <a:ln>
            <a:noFill/>
          </a:ln>
        </p:spPr>
      </p:pic>
      <p:sp>
        <p:nvSpPr>
          <p:cNvPr id="458" name="Google Shape;458;p58"/>
          <p:cNvSpPr txBox="1"/>
          <p:nvPr>
            <p:ph idx="1" type="body"/>
          </p:nvPr>
        </p:nvSpPr>
        <p:spPr>
          <a:xfrm>
            <a:off x="97575" y="1394250"/>
            <a:ext cx="3748800" cy="3141000"/>
          </a:xfrm>
          <a:prstGeom prst="rect">
            <a:avLst/>
          </a:prstGeom>
        </p:spPr>
        <p:txBody>
          <a:bodyPr anchorCtr="0" anchor="t" bIns="0" lIns="0" spcFirstLastPara="1" rIns="0" wrap="square" tIns="0">
            <a:noAutofit/>
          </a:bodyPr>
          <a:lstStyle/>
          <a:p>
            <a:pPr indent="-304800" lvl="0" marL="457200" rtl="0" algn="l">
              <a:spcBef>
                <a:spcPts val="0"/>
              </a:spcBef>
              <a:spcAft>
                <a:spcPts val="0"/>
              </a:spcAft>
              <a:buClr>
                <a:schemeClr val="lt1"/>
              </a:buClr>
              <a:buSzPts val="1200"/>
              <a:buChar char="●"/>
            </a:pPr>
            <a:r>
              <a:rPr b="1" lang="en" sz="1200" u="sng">
                <a:solidFill>
                  <a:schemeClr val="lt1"/>
                </a:solidFill>
                <a:latin typeface="Calibri"/>
                <a:ea typeface="Calibri"/>
                <a:cs typeface="Calibri"/>
                <a:sym typeface="Calibri"/>
              </a:rPr>
              <a:t>Consistency Across Folds:</a:t>
            </a:r>
            <a:r>
              <a:rPr b="1" lang="en" sz="1200">
                <a:solidFill>
                  <a:schemeClr val="lt1"/>
                </a:solidFill>
                <a:latin typeface="Calibri"/>
                <a:ea typeface="Calibri"/>
                <a:cs typeface="Calibri"/>
                <a:sym typeface="Calibri"/>
              </a:rPr>
              <a:t> </a:t>
            </a:r>
            <a:r>
              <a:rPr lang="en" sz="1200">
                <a:solidFill>
                  <a:schemeClr val="lt1"/>
                </a:solidFill>
                <a:latin typeface="Calibri"/>
                <a:ea typeface="Calibri"/>
                <a:cs typeface="Calibri"/>
                <a:sym typeface="Calibri"/>
              </a:rPr>
              <a:t>Our 5-Fold Grouped Cross-Validation shows moderate consistency with noticeable variation across folds.</a:t>
            </a:r>
            <a:endParaRPr sz="1200" u="sng">
              <a:solidFill>
                <a:schemeClr val="lt1"/>
              </a:solidFill>
              <a:latin typeface="Calibri"/>
              <a:ea typeface="Calibri"/>
              <a:cs typeface="Calibri"/>
              <a:sym typeface="Calibri"/>
            </a:endParaRPr>
          </a:p>
          <a:p>
            <a:pPr indent="-304800" lvl="0" marL="457200" rtl="0" algn="l">
              <a:spcBef>
                <a:spcPts val="0"/>
              </a:spcBef>
              <a:spcAft>
                <a:spcPts val="0"/>
              </a:spcAft>
              <a:buClr>
                <a:schemeClr val="lt1"/>
              </a:buClr>
              <a:buSzPts val="1200"/>
              <a:buChar char="●"/>
            </a:pPr>
            <a:r>
              <a:rPr b="1" lang="en" sz="1200" u="sng">
                <a:solidFill>
                  <a:schemeClr val="lt1"/>
                </a:solidFill>
                <a:latin typeface="Calibri"/>
                <a:ea typeface="Calibri"/>
                <a:cs typeface="Calibri"/>
                <a:sym typeface="Calibri"/>
              </a:rPr>
              <a:t>Heatmap Insights:</a:t>
            </a:r>
            <a:r>
              <a:rPr lang="en" sz="1200">
                <a:solidFill>
                  <a:schemeClr val="lt1"/>
                </a:solidFill>
                <a:latin typeface="Calibri"/>
                <a:ea typeface="Calibri"/>
                <a:cs typeface="Calibri"/>
                <a:sym typeface="Calibri"/>
              </a:rPr>
              <a:t>The final model (</a:t>
            </a:r>
            <a:r>
              <a:rPr b="1" lang="en" sz="1200">
                <a:solidFill>
                  <a:schemeClr val="lt1"/>
                </a:solidFill>
                <a:latin typeface="Calibri"/>
                <a:ea typeface="Calibri"/>
                <a:cs typeface="Calibri"/>
                <a:sym typeface="Calibri"/>
              </a:rPr>
              <a:t>blend_ridge_hist</a:t>
            </a:r>
            <a:r>
              <a:rPr lang="en" sz="1200">
                <a:solidFill>
                  <a:schemeClr val="lt1"/>
                </a:solidFill>
                <a:latin typeface="Calibri"/>
                <a:ea typeface="Calibri"/>
                <a:cs typeface="Calibri"/>
                <a:sym typeface="Calibri"/>
              </a:rPr>
              <a:t>) achieves RMSE values of 107.3, 160.6, 144.6, 143.5, and 153.7 across folds. Most folds (2–4) lie in the 140–155 range, while Fold 0 performs significantly better (~107) and Fold 1 is the most challenging (~160).</a:t>
            </a:r>
            <a:endParaRPr b="1" sz="1200" u="sng">
              <a:solidFill>
                <a:schemeClr val="lt1"/>
              </a:solidFill>
              <a:latin typeface="Calibri"/>
              <a:ea typeface="Calibri"/>
              <a:cs typeface="Calibri"/>
              <a:sym typeface="Calibri"/>
            </a:endParaRPr>
          </a:p>
          <a:p>
            <a:pPr indent="-304800" lvl="0" marL="457200" rtl="0" algn="l">
              <a:spcBef>
                <a:spcPts val="0"/>
              </a:spcBef>
              <a:spcAft>
                <a:spcPts val="0"/>
              </a:spcAft>
              <a:buClr>
                <a:schemeClr val="lt1"/>
              </a:buClr>
              <a:buSzPts val="1200"/>
              <a:buChar char="●"/>
            </a:pPr>
            <a:r>
              <a:rPr b="1" lang="en" sz="1200" u="sng">
                <a:solidFill>
                  <a:schemeClr val="lt1"/>
                </a:solidFill>
                <a:latin typeface="Calibri"/>
                <a:ea typeface="Calibri"/>
                <a:cs typeface="Calibri"/>
                <a:sym typeface="Calibri"/>
              </a:rPr>
              <a:t>Interpretation:</a:t>
            </a:r>
            <a:r>
              <a:rPr lang="en" sz="1200">
                <a:solidFill>
                  <a:schemeClr val="lt1"/>
                </a:solidFill>
                <a:latin typeface="Calibri"/>
                <a:ea typeface="Calibri"/>
                <a:cs typeface="Calibri"/>
                <a:sym typeface="Calibri"/>
              </a:rPr>
              <a:t>The model demonstrates strong average performance but non-trivial variability across folds, suggesting sensitivity to data splits. While it generalizes reasonably well, the variation indicates that performance depends on the underlying distribution of each fold, so overfitting cannot be completely ruled out.</a:t>
            </a:r>
            <a:endParaRPr sz="1200">
              <a:solidFill>
                <a:schemeClr val="lt1"/>
              </a:solidFill>
              <a:latin typeface="Calibri"/>
              <a:ea typeface="Calibri"/>
              <a:cs typeface="Calibri"/>
              <a:sym typeface="Calibri"/>
            </a:endParaRPr>
          </a:p>
        </p:txBody>
      </p:sp>
      <p:cxnSp>
        <p:nvCxnSpPr>
          <p:cNvPr id="459" name="Google Shape;459;p58"/>
          <p:cNvCxnSpPr/>
          <p:nvPr/>
        </p:nvCxnSpPr>
        <p:spPr>
          <a:xfrm>
            <a:off x="343200" y="138975"/>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60" name="Google Shape;460;p58"/>
          <p:cNvCxnSpPr/>
          <p:nvPr/>
        </p:nvCxnSpPr>
        <p:spPr>
          <a:xfrm>
            <a:off x="377925" y="4718771"/>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9"/>
          <p:cNvSpPr txBox="1"/>
          <p:nvPr>
            <p:ph type="title"/>
          </p:nvPr>
        </p:nvSpPr>
        <p:spPr>
          <a:xfrm>
            <a:off x="622800" y="285900"/>
            <a:ext cx="7898400" cy="9420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u="sng">
                <a:solidFill>
                  <a:srgbClr val="00796B"/>
                </a:solidFill>
                <a:latin typeface="Comfortaa"/>
                <a:ea typeface="Comfortaa"/>
                <a:cs typeface="Comfortaa"/>
                <a:sym typeface="Comfortaa"/>
              </a:rPr>
              <a:t>Results: Model Trade-offs &amp; Insights</a:t>
            </a:r>
            <a:endParaRPr b="1" u="sng">
              <a:solidFill>
                <a:srgbClr val="00796B"/>
              </a:solidFill>
              <a:latin typeface="Comfortaa"/>
              <a:ea typeface="Comfortaa"/>
              <a:cs typeface="Comfortaa"/>
              <a:sym typeface="Comfortaa"/>
            </a:endParaRPr>
          </a:p>
        </p:txBody>
      </p:sp>
      <p:sp>
        <p:nvSpPr>
          <p:cNvPr id="466" name="Google Shape;466;p59"/>
          <p:cNvSpPr txBox="1"/>
          <p:nvPr>
            <p:ph idx="1" type="body"/>
          </p:nvPr>
        </p:nvSpPr>
        <p:spPr>
          <a:xfrm>
            <a:off x="161850" y="1391625"/>
            <a:ext cx="4355100" cy="3237600"/>
          </a:xfrm>
          <a:prstGeom prst="rect">
            <a:avLst/>
          </a:prstGeom>
        </p:spPr>
        <p:txBody>
          <a:bodyPr anchorCtr="0" anchor="t" bIns="0" lIns="0" spcFirstLastPara="1" rIns="0" wrap="square" tIns="0">
            <a:noAutofit/>
          </a:bodyPr>
          <a:lstStyle/>
          <a:p>
            <a:pPr indent="-311150" lvl="0" marL="457200" rtl="0" algn="l">
              <a:spcBef>
                <a:spcPts val="0"/>
              </a:spcBef>
              <a:spcAft>
                <a:spcPts val="0"/>
              </a:spcAft>
              <a:buClr>
                <a:schemeClr val="lt1"/>
              </a:buClr>
              <a:buSzPts val="1300"/>
              <a:buChar char="●"/>
            </a:pPr>
            <a:r>
              <a:rPr b="1" lang="en" sz="1300" u="sng">
                <a:solidFill>
                  <a:schemeClr val="lt1"/>
                </a:solidFill>
              </a:rPr>
              <a:t>Ridge vs. Boosting</a:t>
            </a:r>
            <a:r>
              <a:rPr b="1" lang="en" sz="1300">
                <a:solidFill>
                  <a:schemeClr val="lt1"/>
                </a:solidFill>
              </a:rPr>
              <a:t>: </a:t>
            </a:r>
            <a:r>
              <a:rPr lang="en" sz="1300">
                <a:solidFill>
                  <a:schemeClr val="lt1"/>
                </a:solidFill>
              </a:rPr>
              <a:t>The Ridge model is excellent at capturing the 'who' (identity), while the Boosting model captures the 'how' (gameplay).</a:t>
            </a:r>
            <a:endParaRPr sz="1300">
              <a:solidFill>
                <a:schemeClr val="lt1"/>
              </a:solidFill>
              <a:latin typeface="Comfortaa"/>
              <a:ea typeface="Comfortaa"/>
              <a:cs typeface="Comfortaa"/>
              <a:sym typeface="Comfortaa"/>
            </a:endParaRPr>
          </a:p>
          <a:p>
            <a:pPr indent="0" lvl="0" marL="0" rtl="0" algn="l">
              <a:spcBef>
                <a:spcPts val="0"/>
              </a:spcBef>
              <a:spcAft>
                <a:spcPts val="0"/>
              </a:spcAft>
              <a:buNone/>
            </a:pPr>
            <a:r>
              <a:t/>
            </a:r>
            <a:endParaRPr b="1" sz="1300">
              <a:solidFill>
                <a:schemeClr val="lt1"/>
              </a:solidFill>
            </a:endParaRPr>
          </a:p>
          <a:p>
            <a:pPr indent="-311150" lvl="0" marL="457200" rtl="0" algn="l">
              <a:spcBef>
                <a:spcPts val="0"/>
              </a:spcBef>
              <a:spcAft>
                <a:spcPts val="0"/>
              </a:spcAft>
              <a:buClr>
                <a:schemeClr val="lt1"/>
              </a:buClr>
              <a:buSzPts val="1300"/>
              <a:buChar char="●"/>
            </a:pPr>
            <a:r>
              <a:rPr b="1" lang="en" sz="1300" u="sng">
                <a:solidFill>
                  <a:schemeClr val="lt1"/>
                </a:solidFill>
              </a:rPr>
              <a:t>The Trade-off</a:t>
            </a:r>
            <a:r>
              <a:rPr b="1" lang="en" sz="1300">
                <a:solidFill>
                  <a:schemeClr val="lt1"/>
                </a:solidFill>
              </a:rPr>
              <a:t>:</a:t>
            </a:r>
            <a:r>
              <a:rPr lang="en" sz="1300">
                <a:solidFill>
                  <a:schemeClr val="lt1"/>
                </a:solidFill>
              </a:rPr>
              <a:t> Increasing the weight of the Boosting model improved performance on 'unseen' players but slightly degraded performance on 'known' veterans. The 0.65/0.35 split was chosen as the optimal balance for the overall dataset.</a:t>
            </a:r>
            <a:endParaRPr sz="1300">
              <a:solidFill>
                <a:schemeClr val="lt1"/>
              </a:solidFill>
            </a:endParaRPr>
          </a:p>
          <a:p>
            <a:pPr indent="0" lvl="0" marL="457200" rtl="0" algn="l">
              <a:spcBef>
                <a:spcPts val="0"/>
              </a:spcBef>
              <a:spcAft>
                <a:spcPts val="0"/>
              </a:spcAft>
              <a:buNone/>
            </a:pPr>
            <a:r>
              <a:t/>
            </a:r>
            <a:endParaRPr sz="1300">
              <a:solidFill>
                <a:schemeClr val="lt1"/>
              </a:solidFill>
            </a:endParaRPr>
          </a:p>
          <a:p>
            <a:pPr indent="-311150" lvl="0" marL="457200" rtl="0" algn="l">
              <a:spcBef>
                <a:spcPts val="0"/>
              </a:spcBef>
              <a:spcAft>
                <a:spcPts val="0"/>
              </a:spcAft>
              <a:buClr>
                <a:schemeClr val="lt1"/>
              </a:buClr>
              <a:buSzPts val="1300"/>
              <a:buChar char="●"/>
            </a:pPr>
            <a:r>
              <a:rPr b="1" lang="en" sz="1300" u="sng">
                <a:solidFill>
                  <a:schemeClr val="lt1"/>
                </a:solidFill>
              </a:rPr>
              <a:t>Error Bias</a:t>
            </a:r>
            <a:r>
              <a:rPr b="1" lang="en" sz="1300">
                <a:solidFill>
                  <a:schemeClr val="lt1"/>
                </a:solidFill>
              </a:rPr>
              <a:t>:</a:t>
            </a:r>
            <a:r>
              <a:rPr lang="en" sz="1300">
                <a:solidFill>
                  <a:schemeClr val="lt1"/>
                </a:solidFill>
              </a:rPr>
              <a:t> The model tends to be slightly more conservative, occasionally under-predicting the ratings of extreme outliers (very high or very low rated players).</a:t>
            </a:r>
            <a:endParaRPr sz="1300">
              <a:solidFill>
                <a:schemeClr val="lt1"/>
              </a:solidFill>
            </a:endParaRPr>
          </a:p>
          <a:p>
            <a:pPr indent="0" lvl="0" marL="457200" rtl="0" algn="l">
              <a:spcBef>
                <a:spcPts val="0"/>
              </a:spcBef>
              <a:spcAft>
                <a:spcPts val="0"/>
              </a:spcAft>
              <a:buNone/>
            </a:pPr>
            <a:r>
              <a:t/>
            </a:r>
            <a:endParaRPr sz="1300">
              <a:solidFill>
                <a:schemeClr val="lt1"/>
              </a:solidFill>
            </a:endParaRPr>
          </a:p>
        </p:txBody>
      </p:sp>
      <p:pic>
        <p:nvPicPr>
          <p:cNvPr descr="final_rmse_vs_mae_scatter.png" id="467" name="Google Shape;467;p59"/>
          <p:cNvPicPr preferRelativeResize="0"/>
          <p:nvPr/>
        </p:nvPicPr>
        <p:blipFill rotWithShape="1">
          <a:blip r:embed="rId3">
            <a:alphaModFix/>
          </a:blip>
          <a:srcRect b="0" l="0" r="0" t="0"/>
          <a:stretch/>
        </p:blipFill>
        <p:spPr>
          <a:xfrm>
            <a:off x="4744800" y="1408863"/>
            <a:ext cx="4114500" cy="3088026"/>
          </a:xfrm>
          <a:prstGeom prst="rect">
            <a:avLst/>
          </a:prstGeom>
          <a:noFill/>
          <a:ln>
            <a:noFill/>
          </a:ln>
        </p:spPr>
      </p:pic>
      <p:cxnSp>
        <p:nvCxnSpPr>
          <p:cNvPr id="468" name="Google Shape;468;p59"/>
          <p:cNvCxnSpPr/>
          <p:nvPr/>
        </p:nvCxnSpPr>
        <p:spPr>
          <a:xfrm>
            <a:off x="285450" y="186775"/>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69" name="Google Shape;469;p59"/>
          <p:cNvCxnSpPr/>
          <p:nvPr/>
        </p:nvCxnSpPr>
        <p:spPr>
          <a:xfrm>
            <a:off x="343200" y="4782125"/>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0"/>
          <p:cNvSpPr txBox="1"/>
          <p:nvPr>
            <p:ph type="title"/>
          </p:nvPr>
        </p:nvSpPr>
        <p:spPr>
          <a:xfrm>
            <a:off x="585300" y="349175"/>
            <a:ext cx="80889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u="sng">
                <a:solidFill>
                  <a:srgbClr val="00796B"/>
                </a:solidFill>
                <a:latin typeface="Comfortaa"/>
                <a:ea typeface="Comfortaa"/>
                <a:cs typeface="Comfortaa"/>
                <a:sym typeface="Comfortaa"/>
              </a:rPr>
              <a:t>Results: Final Validation Summary</a:t>
            </a:r>
            <a:endParaRPr b="1" u="sng">
              <a:solidFill>
                <a:srgbClr val="00796B"/>
              </a:solidFill>
              <a:latin typeface="Comfortaa"/>
              <a:ea typeface="Comfortaa"/>
              <a:cs typeface="Comfortaa"/>
              <a:sym typeface="Comfortaa"/>
            </a:endParaRPr>
          </a:p>
        </p:txBody>
      </p:sp>
      <p:sp>
        <p:nvSpPr>
          <p:cNvPr id="475" name="Google Shape;475;p60"/>
          <p:cNvSpPr txBox="1"/>
          <p:nvPr>
            <p:ph idx="1" type="body"/>
          </p:nvPr>
        </p:nvSpPr>
        <p:spPr>
          <a:xfrm>
            <a:off x="585300" y="1373025"/>
            <a:ext cx="7805100" cy="2632200"/>
          </a:xfrm>
          <a:prstGeom prst="rect">
            <a:avLst/>
          </a:prstGeom>
        </p:spPr>
        <p:txBody>
          <a:bodyPr anchorCtr="0" anchor="t" bIns="0" lIns="0" spcFirstLastPara="1" rIns="0" wrap="square" tIns="0">
            <a:noAutofit/>
          </a:bodyPr>
          <a:lstStyle/>
          <a:p>
            <a:pPr indent="-317500" lvl="0" marL="457200" rtl="0" algn="l">
              <a:spcBef>
                <a:spcPts val="0"/>
              </a:spcBef>
              <a:spcAft>
                <a:spcPts val="0"/>
              </a:spcAft>
              <a:buClr>
                <a:schemeClr val="lt1"/>
              </a:buClr>
              <a:buSzPts val="1400"/>
              <a:buChar char="●"/>
            </a:pPr>
            <a:r>
              <a:rPr b="1" lang="en" sz="1400" u="sng">
                <a:solidFill>
                  <a:schemeClr val="lt1"/>
                </a:solidFill>
              </a:rPr>
              <a:t>Final Metrics:</a:t>
            </a:r>
            <a:endParaRPr b="1" sz="1400" u="sng">
              <a:solidFill>
                <a:schemeClr val="lt1"/>
              </a:solidFill>
            </a:endParaRPr>
          </a:p>
          <a:p>
            <a:pPr indent="0" lvl="0" marL="457200" rtl="0" algn="l">
              <a:spcBef>
                <a:spcPts val="0"/>
              </a:spcBef>
              <a:spcAft>
                <a:spcPts val="0"/>
              </a:spcAft>
              <a:buNone/>
            </a:pPr>
            <a:r>
              <a:rPr lang="en" sz="1400">
                <a:solidFill>
                  <a:schemeClr val="lt1"/>
                </a:solidFill>
              </a:rPr>
              <a:t>RMSE: 141.9355</a:t>
            </a:r>
            <a:endParaRPr sz="1400">
              <a:solidFill>
                <a:schemeClr val="lt1"/>
              </a:solidFill>
            </a:endParaRPr>
          </a:p>
          <a:p>
            <a:pPr indent="0" lvl="0" marL="457200" rtl="0" algn="l">
              <a:spcBef>
                <a:spcPts val="0"/>
              </a:spcBef>
              <a:spcAft>
                <a:spcPts val="0"/>
              </a:spcAft>
              <a:buNone/>
            </a:pPr>
            <a:r>
              <a:rPr lang="en" sz="1400">
                <a:solidFill>
                  <a:schemeClr val="lt1"/>
                </a:solidFill>
              </a:rPr>
              <a:t>MAE: 109.6770</a:t>
            </a:r>
            <a:endParaRPr sz="1400">
              <a:solidFill>
                <a:schemeClr val="lt1"/>
              </a:solidFill>
            </a:endParaRPr>
          </a:p>
          <a:p>
            <a:pPr indent="0" lvl="0" marL="457200" rtl="0" algn="l">
              <a:spcBef>
                <a:spcPts val="0"/>
              </a:spcBef>
              <a:spcAft>
                <a:spcPts val="0"/>
              </a:spcAft>
              <a:buNone/>
            </a:pPr>
            <a:r>
              <a:t/>
            </a:r>
            <a:endParaRPr sz="1400">
              <a:solidFill>
                <a:schemeClr val="lt1"/>
              </a:solidFill>
            </a:endParaRPr>
          </a:p>
          <a:p>
            <a:pPr indent="-317500" lvl="0" marL="457200" rtl="0" algn="l">
              <a:spcBef>
                <a:spcPts val="0"/>
              </a:spcBef>
              <a:spcAft>
                <a:spcPts val="0"/>
              </a:spcAft>
              <a:buClr>
                <a:schemeClr val="lt1"/>
              </a:buClr>
              <a:buSzPts val="1400"/>
              <a:buChar char="●"/>
            </a:pPr>
            <a:r>
              <a:rPr b="1" lang="en" sz="1400" u="sng">
                <a:solidFill>
                  <a:schemeClr val="lt1"/>
                </a:solidFill>
              </a:rPr>
              <a:t>Submission Readiness:</a:t>
            </a:r>
            <a:r>
              <a:rPr lang="en" sz="1400">
                <a:solidFill>
                  <a:schemeClr val="lt1"/>
                </a:solidFill>
              </a:rPr>
              <a:t> The model has been fully trained on the entire training set using the best parameters found during validation.</a:t>
            </a:r>
            <a:endParaRPr sz="1400">
              <a:solidFill>
                <a:schemeClr val="lt1"/>
              </a:solidFill>
            </a:endParaRPr>
          </a:p>
          <a:p>
            <a:pPr indent="0" lvl="0" marL="457200" rtl="0" algn="l">
              <a:spcBef>
                <a:spcPts val="0"/>
              </a:spcBef>
              <a:spcAft>
                <a:spcPts val="0"/>
              </a:spcAft>
              <a:buNone/>
            </a:pPr>
            <a:r>
              <a:t/>
            </a:r>
            <a:endParaRPr sz="1400">
              <a:solidFill>
                <a:schemeClr val="lt1"/>
              </a:solidFill>
            </a:endParaRPr>
          </a:p>
          <a:p>
            <a:pPr indent="-317500" lvl="0" marL="457200" rtl="0" algn="l">
              <a:spcBef>
                <a:spcPts val="0"/>
              </a:spcBef>
              <a:spcAft>
                <a:spcPts val="0"/>
              </a:spcAft>
              <a:buClr>
                <a:schemeClr val="lt1"/>
              </a:buClr>
              <a:buSzPts val="1400"/>
              <a:buChar char="●"/>
            </a:pPr>
            <a:r>
              <a:rPr b="1" lang="en" sz="1400" u="sng">
                <a:solidFill>
                  <a:schemeClr val="lt1"/>
                </a:solidFill>
              </a:rPr>
              <a:t>Conclusion:</a:t>
            </a:r>
            <a:r>
              <a:rPr lang="en" sz="1400">
                <a:solidFill>
                  <a:schemeClr val="lt1"/>
                </a:solidFill>
              </a:rPr>
              <a:t> The integration of turn-level dynamics into a traditional metadata-based model successfully provides a more holistic view of player skill.</a:t>
            </a:r>
            <a:endParaRPr sz="1400">
              <a:solidFill>
                <a:schemeClr val="lt1"/>
              </a:solidFill>
            </a:endParaRPr>
          </a:p>
        </p:txBody>
      </p:sp>
      <p:cxnSp>
        <p:nvCxnSpPr>
          <p:cNvPr id="476" name="Google Shape;476;p60"/>
          <p:cNvCxnSpPr/>
          <p:nvPr/>
        </p:nvCxnSpPr>
        <p:spPr>
          <a:xfrm>
            <a:off x="201300" y="222950"/>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77" name="Google Shape;477;p60"/>
          <p:cNvCxnSpPr/>
          <p:nvPr/>
        </p:nvCxnSpPr>
        <p:spPr>
          <a:xfrm>
            <a:off x="343200" y="4683725"/>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1"/>
          <p:cNvSpPr/>
          <p:nvPr/>
        </p:nvSpPr>
        <p:spPr>
          <a:xfrm>
            <a:off x="285724" y="1173426"/>
            <a:ext cx="2029200" cy="3608700"/>
          </a:xfrm>
          <a:prstGeom prst="rect">
            <a:avLst/>
          </a:prstGeom>
          <a:solidFill>
            <a:srgbClr val="FFF2CC"/>
          </a:solidFill>
          <a:ln>
            <a:noFill/>
          </a:ln>
        </p:spPr>
        <p:txBody>
          <a:bodyPr anchorCtr="0" anchor="ctr" bIns="122450" lIns="122450" spcFirstLastPara="1" rIns="122450" wrap="square" tIns="122450">
            <a:noAutofit/>
          </a:bodyPr>
          <a:lstStyle/>
          <a:p>
            <a:pPr indent="0" lvl="0" marL="0" rtl="0" algn="ctr">
              <a:spcBef>
                <a:spcPts val="0"/>
              </a:spcBef>
              <a:spcAft>
                <a:spcPts val="0"/>
              </a:spcAft>
              <a:buNone/>
            </a:pPr>
            <a:r>
              <a:t/>
            </a:r>
            <a:endParaRPr sz="1875">
              <a:latin typeface="Inter"/>
              <a:ea typeface="Inter"/>
              <a:cs typeface="Inter"/>
              <a:sym typeface="Inter"/>
            </a:endParaRPr>
          </a:p>
        </p:txBody>
      </p:sp>
      <p:sp>
        <p:nvSpPr>
          <p:cNvPr id="483" name="Google Shape;483;p61"/>
          <p:cNvSpPr/>
          <p:nvPr/>
        </p:nvSpPr>
        <p:spPr>
          <a:xfrm>
            <a:off x="2466534" y="1173426"/>
            <a:ext cx="2029200" cy="3608700"/>
          </a:xfrm>
          <a:prstGeom prst="rect">
            <a:avLst/>
          </a:prstGeom>
          <a:solidFill>
            <a:srgbClr val="FFF2CC"/>
          </a:solidFill>
          <a:ln>
            <a:noFill/>
          </a:ln>
        </p:spPr>
        <p:txBody>
          <a:bodyPr anchorCtr="0" anchor="ctr" bIns="122450" lIns="122450" spcFirstLastPara="1" rIns="122450" wrap="square" tIns="122450">
            <a:noAutofit/>
          </a:bodyPr>
          <a:lstStyle/>
          <a:p>
            <a:pPr indent="0" lvl="0" marL="0" rtl="0" algn="ctr">
              <a:spcBef>
                <a:spcPts val="0"/>
              </a:spcBef>
              <a:spcAft>
                <a:spcPts val="0"/>
              </a:spcAft>
              <a:buNone/>
            </a:pPr>
            <a:r>
              <a:t/>
            </a:r>
            <a:endParaRPr sz="1875">
              <a:solidFill>
                <a:schemeClr val="dk1"/>
              </a:solidFill>
              <a:latin typeface="Inter"/>
              <a:ea typeface="Inter"/>
              <a:cs typeface="Inter"/>
              <a:sym typeface="Inter"/>
            </a:endParaRPr>
          </a:p>
        </p:txBody>
      </p:sp>
      <p:sp>
        <p:nvSpPr>
          <p:cNvPr id="484" name="Google Shape;484;p61"/>
          <p:cNvSpPr/>
          <p:nvPr/>
        </p:nvSpPr>
        <p:spPr>
          <a:xfrm>
            <a:off x="4647948" y="1173426"/>
            <a:ext cx="2029200" cy="3608700"/>
          </a:xfrm>
          <a:prstGeom prst="rect">
            <a:avLst/>
          </a:prstGeom>
          <a:solidFill>
            <a:srgbClr val="FFF2CC"/>
          </a:solidFill>
          <a:ln>
            <a:noFill/>
          </a:ln>
        </p:spPr>
        <p:txBody>
          <a:bodyPr anchorCtr="0" anchor="ctr" bIns="122450" lIns="122450" spcFirstLastPara="1" rIns="122450" wrap="square" tIns="122450">
            <a:noAutofit/>
          </a:bodyPr>
          <a:lstStyle/>
          <a:p>
            <a:pPr indent="0" lvl="0" marL="0" rtl="0" algn="ctr">
              <a:spcBef>
                <a:spcPts val="0"/>
              </a:spcBef>
              <a:spcAft>
                <a:spcPts val="0"/>
              </a:spcAft>
              <a:buNone/>
            </a:pPr>
            <a:r>
              <a:t/>
            </a:r>
            <a:endParaRPr sz="1875">
              <a:solidFill>
                <a:schemeClr val="dk1"/>
              </a:solidFill>
              <a:latin typeface="Inter"/>
              <a:ea typeface="Inter"/>
              <a:cs typeface="Inter"/>
              <a:sym typeface="Inter"/>
            </a:endParaRPr>
          </a:p>
        </p:txBody>
      </p:sp>
      <p:sp>
        <p:nvSpPr>
          <p:cNvPr id="485" name="Google Shape;485;p61"/>
          <p:cNvSpPr/>
          <p:nvPr/>
        </p:nvSpPr>
        <p:spPr>
          <a:xfrm>
            <a:off x="6829076" y="1173426"/>
            <a:ext cx="2029200" cy="3608700"/>
          </a:xfrm>
          <a:prstGeom prst="rect">
            <a:avLst/>
          </a:prstGeom>
          <a:solidFill>
            <a:srgbClr val="FFF2CC"/>
          </a:solidFill>
          <a:ln>
            <a:noFill/>
          </a:ln>
        </p:spPr>
        <p:txBody>
          <a:bodyPr anchorCtr="0" anchor="ctr" bIns="122450" lIns="122450" spcFirstLastPara="1" rIns="122450" wrap="square" tIns="122450">
            <a:noAutofit/>
          </a:bodyPr>
          <a:lstStyle/>
          <a:p>
            <a:pPr indent="0" lvl="0" marL="0" rtl="0" algn="ctr">
              <a:spcBef>
                <a:spcPts val="0"/>
              </a:spcBef>
              <a:spcAft>
                <a:spcPts val="0"/>
              </a:spcAft>
              <a:buNone/>
            </a:pPr>
            <a:r>
              <a:t/>
            </a:r>
            <a:endParaRPr sz="1875">
              <a:solidFill>
                <a:schemeClr val="dk1"/>
              </a:solidFill>
              <a:latin typeface="Inter"/>
              <a:ea typeface="Inter"/>
              <a:cs typeface="Inter"/>
              <a:sym typeface="Inter"/>
            </a:endParaRPr>
          </a:p>
        </p:txBody>
      </p:sp>
      <p:cxnSp>
        <p:nvCxnSpPr>
          <p:cNvPr id="486" name="Google Shape;486;p61"/>
          <p:cNvCxnSpPr/>
          <p:nvPr/>
        </p:nvCxnSpPr>
        <p:spPr>
          <a:xfrm>
            <a:off x="524428" y="2143046"/>
            <a:ext cx="1592100" cy="0"/>
          </a:xfrm>
          <a:prstGeom prst="straightConnector1">
            <a:avLst/>
          </a:prstGeom>
          <a:noFill/>
          <a:ln cap="flat" cmpd="sng" w="9525">
            <a:solidFill>
              <a:schemeClr val="lt1"/>
            </a:solidFill>
            <a:prstDash val="solid"/>
            <a:round/>
            <a:headEnd len="med" w="med" type="none"/>
            <a:tailEnd len="med" w="med" type="none"/>
          </a:ln>
        </p:spPr>
      </p:cxnSp>
      <p:cxnSp>
        <p:nvCxnSpPr>
          <p:cNvPr id="487" name="Google Shape;487;p61"/>
          <p:cNvCxnSpPr/>
          <p:nvPr/>
        </p:nvCxnSpPr>
        <p:spPr>
          <a:xfrm>
            <a:off x="524428" y="4499314"/>
            <a:ext cx="1592100" cy="0"/>
          </a:xfrm>
          <a:prstGeom prst="straightConnector1">
            <a:avLst/>
          </a:prstGeom>
          <a:noFill/>
          <a:ln cap="flat" cmpd="sng" w="9525">
            <a:solidFill>
              <a:schemeClr val="lt1"/>
            </a:solidFill>
            <a:prstDash val="solid"/>
            <a:round/>
            <a:headEnd len="med" w="med" type="none"/>
            <a:tailEnd len="med" w="med" type="none"/>
          </a:ln>
        </p:spPr>
      </p:cxnSp>
      <p:cxnSp>
        <p:nvCxnSpPr>
          <p:cNvPr id="488" name="Google Shape;488;p61"/>
          <p:cNvCxnSpPr/>
          <p:nvPr/>
        </p:nvCxnSpPr>
        <p:spPr>
          <a:xfrm>
            <a:off x="2705239" y="2143046"/>
            <a:ext cx="1592100" cy="0"/>
          </a:xfrm>
          <a:prstGeom prst="straightConnector1">
            <a:avLst/>
          </a:prstGeom>
          <a:noFill/>
          <a:ln cap="flat" cmpd="sng" w="9525">
            <a:solidFill>
              <a:schemeClr val="lt1"/>
            </a:solidFill>
            <a:prstDash val="solid"/>
            <a:round/>
            <a:headEnd len="med" w="med" type="none"/>
            <a:tailEnd len="med" w="med" type="none"/>
          </a:ln>
        </p:spPr>
      </p:cxnSp>
      <p:cxnSp>
        <p:nvCxnSpPr>
          <p:cNvPr id="489" name="Google Shape;489;p61"/>
          <p:cNvCxnSpPr/>
          <p:nvPr/>
        </p:nvCxnSpPr>
        <p:spPr>
          <a:xfrm>
            <a:off x="2705239" y="4499314"/>
            <a:ext cx="1592100" cy="0"/>
          </a:xfrm>
          <a:prstGeom prst="straightConnector1">
            <a:avLst/>
          </a:prstGeom>
          <a:noFill/>
          <a:ln cap="flat" cmpd="sng" w="9525">
            <a:solidFill>
              <a:schemeClr val="lt1"/>
            </a:solidFill>
            <a:prstDash val="solid"/>
            <a:round/>
            <a:headEnd len="med" w="med" type="none"/>
            <a:tailEnd len="med" w="med" type="none"/>
          </a:ln>
        </p:spPr>
      </p:cxnSp>
      <p:cxnSp>
        <p:nvCxnSpPr>
          <p:cNvPr id="490" name="Google Shape;490;p61"/>
          <p:cNvCxnSpPr/>
          <p:nvPr/>
        </p:nvCxnSpPr>
        <p:spPr>
          <a:xfrm>
            <a:off x="4886652" y="2143046"/>
            <a:ext cx="1592100" cy="0"/>
          </a:xfrm>
          <a:prstGeom prst="straightConnector1">
            <a:avLst/>
          </a:prstGeom>
          <a:noFill/>
          <a:ln cap="flat" cmpd="sng" w="9525">
            <a:solidFill>
              <a:schemeClr val="lt1"/>
            </a:solidFill>
            <a:prstDash val="solid"/>
            <a:round/>
            <a:headEnd len="med" w="med" type="none"/>
            <a:tailEnd len="med" w="med" type="none"/>
          </a:ln>
        </p:spPr>
      </p:cxnSp>
      <p:cxnSp>
        <p:nvCxnSpPr>
          <p:cNvPr id="491" name="Google Shape;491;p61"/>
          <p:cNvCxnSpPr/>
          <p:nvPr/>
        </p:nvCxnSpPr>
        <p:spPr>
          <a:xfrm>
            <a:off x="4886652" y="4499314"/>
            <a:ext cx="1592100" cy="0"/>
          </a:xfrm>
          <a:prstGeom prst="straightConnector1">
            <a:avLst/>
          </a:prstGeom>
          <a:noFill/>
          <a:ln cap="flat" cmpd="sng" w="9525">
            <a:solidFill>
              <a:schemeClr val="lt1"/>
            </a:solidFill>
            <a:prstDash val="solid"/>
            <a:round/>
            <a:headEnd len="med" w="med" type="none"/>
            <a:tailEnd len="med" w="med" type="none"/>
          </a:ln>
        </p:spPr>
      </p:cxnSp>
      <p:cxnSp>
        <p:nvCxnSpPr>
          <p:cNvPr id="492" name="Google Shape;492;p61"/>
          <p:cNvCxnSpPr/>
          <p:nvPr/>
        </p:nvCxnSpPr>
        <p:spPr>
          <a:xfrm>
            <a:off x="7067781" y="2143046"/>
            <a:ext cx="1592100" cy="0"/>
          </a:xfrm>
          <a:prstGeom prst="straightConnector1">
            <a:avLst/>
          </a:prstGeom>
          <a:noFill/>
          <a:ln cap="flat" cmpd="sng" w="9525">
            <a:solidFill>
              <a:schemeClr val="lt1"/>
            </a:solidFill>
            <a:prstDash val="solid"/>
            <a:round/>
            <a:headEnd len="med" w="med" type="none"/>
            <a:tailEnd len="med" w="med" type="none"/>
          </a:ln>
        </p:spPr>
      </p:cxnSp>
      <p:cxnSp>
        <p:nvCxnSpPr>
          <p:cNvPr id="493" name="Google Shape;493;p61"/>
          <p:cNvCxnSpPr/>
          <p:nvPr/>
        </p:nvCxnSpPr>
        <p:spPr>
          <a:xfrm>
            <a:off x="7067781" y="4499314"/>
            <a:ext cx="1592100" cy="0"/>
          </a:xfrm>
          <a:prstGeom prst="straightConnector1">
            <a:avLst/>
          </a:prstGeom>
          <a:noFill/>
          <a:ln cap="flat" cmpd="sng" w="9525">
            <a:solidFill>
              <a:schemeClr val="lt1"/>
            </a:solidFill>
            <a:prstDash val="solid"/>
            <a:round/>
            <a:headEnd len="med" w="med" type="none"/>
            <a:tailEnd len="med" w="med" type="none"/>
          </a:ln>
        </p:spPr>
      </p:cxnSp>
      <p:sp>
        <p:nvSpPr>
          <p:cNvPr id="494" name="Google Shape;494;p61"/>
          <p:cNvSpPr txBox="1"/>
          <p:nvPr>
            <p:ph idx="21" type="title"/>
          </p:nvPr>
        </p:nvSpPr>
        <p:spPr>
          <a:xfrm>
            <a:off x="2522400" y="350250"/>
            <a:ext cx="4099200" cy="4971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3800" u="sng">
                <a:solidFill>
                  <a:srgbClr val="00796B"/>
                </a:solidFill>
                <a:latin typeface="Comfortaa"/>
                <a:ea typeface="Comfortaa"/>
                <a:cs typeface="Comfortaa"/>
                <a:sym typeface="Comfortaa"/>
              </a:rPr>
              <a:t>Work Division</a:t>
            </a:r>
            <a:endParaRPr b="1" sz="3800" u="sng">
              <a:solidFill>
                <a:srgbClr val="00796B"/>
              </a:solidFill>
              <a:latin typeface="Comfortaa"/>
              <a:ea typeface="Comfortaa"/>
              <a:cs typeface="Comfortaa"/>
              <a:sym typeface="Comfortaa"/>
            </a:endParaRPr>
          </a:p>
        </p:txBody>
      </p:sp>
      <p:sp>
        <p:nvSpPr>
          <p:cNvPr id="495" name="Google Shape;495;p61"/>
          <p:cNvSpPr txBox="1"/>
          <p:nvPr>
            <p:ph type="title"/>
          </p:nvPr>
        </p:nvSpPr>
        <p:spPr>
          <a:xfrm>
            <a:off x="524425" y="1303949"/>
            <a:ext cx="1592100" cy="484200"/>
          </a:xfrm>
          <a:prstGeom prst="rect">
            <a:avLst/>
          </a:prstGeom>
        </p:spPr>
        <p:txBody>
          <a:bodyPr anchorCtr="0" anchor="t" bIns="122450" lIns="122450" spcFirstLastPara="1" rIns="122450" wrap="square" tIns="122450">
            <a:noAutofit/>
          </a:bodyPr>
          <a:lstStyle/>
          <a:p>
            <a:pPr indent="0" lvl="0" marL="0" rtl="0" algn="l">
              <a:spcBef>
                <a:spcPts val="0"/>
              </a:spcBef>
              <a:spcAft>
                <a:spcPts val="0"/>
              </a:spcAft>
              <a:buNone/>
            </a:pPr>
            <a:r>
              <a:rPr lang="en" sz="1840">
                <a:latin typeface="Google Sans Text"/>
                <a:ea typeface="Google Sans Text"/>
                <a:cs typeface="Google Sans Text"/>
                <a:sym typeface="Google Sans Text"/>
              </a:rPr>
              <a:t>Meet Kiyada</a:t>
            </a:r>
            <a:endParaRPr sz="1840">
              <a:latin typeface="Google Sans Text"/>
              <a:ea typeface="Google Sans Text"/>
              <a:cs typeface="Google Sans Text"/>
              <a:sym typeface="Google Sans Text"/>
            </a:endParaRPr>
          </a:p>
        </p:txBody>
      </p:sp>
      <p:sp>
        <p:nvSpPr>
          <p:cNvPr id="496" name="Google Shape;496;p61"/>
          <p:cNvSpPr txBox="1"/>
          <p:nvPr>
            <p:ph idx="1" type="body"/>
          </p:nvPr>
        </p:nvSpPr>
        <p:spPr>
          <a:xfrm>
            <a:off x="524428" y="2301973"/>
            <a:ext cx="1556400" cy="2237700"/>
          </a:xfrm>
          <a:prstGeom prst="rect">
            <a:avLst/>
          </a:prstGeom>
        </p:spPr>
        <p:txBody>
          <a:bodyPr anchorCtr="0" anchor="t" bIns="122450" lIns="122450" spcFirstLastPara="1" rIns="122450" wrap="square" tIns="122450">
            <a:noAutofit/>
          </a:bodyPr>
          <a:lstStyle/>
          <a:p>
            <a:pPr indent="0" lvl="0" marL="0" rtl="0" algn="l">
              <a:spcBef>
                <a:spcPts val="0"/>
              </a:spcBef>
              <a:spcAft>
                <a:spcPts val="0"/>
              </a:spcAft>
              <a:buNone/>
            </a:pPr>
            <a:r>
              <a:rPr lang="en" sz="1272">
                <a:latin typeface="Comfortaa"/>
                <a:ea typeface="Comfortaa"/>
                <a:cs typeface="Comfortaa"/>
                <a:sym typeface="Comfortaa"/>
              </a:rPr>
              <a:t>Final model comparison, ensemble selection, notebook and report consolidation</a:t>
            </a:r>
            <a:endParaRPr sz="1272">
              <a:latin typeface="Comfortaa"/>
              <a:ea typeface="Comfortaa"/>
              <a:cs typeface="Comfortaa"/>
              <a:sym typeface="Comfortaa"/>
            </a:endParaRPr>
          </a:p>
        </p:txBody>
      </p:sp>
      <p:sp>
        <p:nvSpPr>
          <p:cNvPr id="497" name="Google Shape;497;p61"/>
          <p:cNvSpPr txBox="1"/>
          <p:nvPr>
            <p:ph idx="5" type="title"/>
          </p:nvPr>
        </p:nvSpPr>
        <p:spPr>
          <a:xfrm>
            <a:off x="2705250" y="1303951"/>
            <a:ext cx="1592100" cy="565500"/>
          </a:xfrm>
          <a:prstGeom prst="rect">
            <a:avLst/>
          </a:prstGeom>
        </p:spPr>
        <p:txBody>
          <a:bodyPr anchorCtr="0" anchor="t" bIns="122450" lIns="122450" spcFirstLastPara="1" rIns="122450" wrap="square" tIns="122450">
            <a:noAutofit/>
          </a:bodyPr>
          <a:lstStyle/>
          <a:p>
            <a:pPr indent="0" lvl="0" marL="0" rtl="0" algn="l">
              <a:spcBef>
                <a:spcPts val="0"/>
              </a:spcBef>
              <a:spcAft>
                <a:spcPts val="0"/>
              </a:spcAft>
              <a:buNone/>
            </a:pPr>
            <a:r>
              <a:rPr lang="en" sz="1840">
                <a:latin typeface="Google Sans Text"/>
                <a:ea typeface="Google Sans Text"/>
                <a:cs typeface="Google Sans Text"/>
                <a:sym typeface="Google Sans Text"/>
              </a:rPr>
              <a:t>Chaitanya Singh</a:t>
            </a:r>
            <a:endParaRPr sz="1840">
              <a:latin typeface="Google Sans Text"/>
              <a:ea typeface="Google Sans Text"/>
              <a:cs typeface="Google Sans Text"/>
              <a:sym typeface="Google Sans Text"/>
            </a:endParaRPr>
          </a:p>
        </p:txBody>
      </p:sp>
      <p:sp>
        <p:nvSpPr>
          <p:cNvPr id="498" name="Google Shape;498;p61"/>
          <p:cNvSpPr txBox="1"/>
          <p:nvPr>
            <p:ph idx="6" type="body"/>
          </p:nvPr>
        </p:nvSpPr>
        <p:spPr>
          <a:xfrm>
            <a:off x="2705239" y="2301973"/>
            <a:ext cx="1556400" cy="2237700"/>
          </a:xfrm>
          <a:prstGeom prst="rect">
            <a:avLst/>
          </a:prstGeom>
        </p:spPr>
        <p:txBody>
          <a:bodyPr anchorCtr="0" anchor="t" bIns="122450" lIns="122450" spcFirstLastPara="1" rIns="122450" wrap="square" tIns="122450">
            <a:noAutofit/>
          </a:bodyPr>
          <a:lstStyle/>
          <a:p>
            <a:pPr indent="0" lvl="0" marL="0" rtl="0" algn="l">
              <a:lnSpc>
                <a:spcPct val="100000"/>
              </a:lnSpc>
              <a:spcBef>
                <a:spcPts val="0"/>
              </a:spcBef>
              <a:spcAft>
                <a:spcPts val="0"/>
              </a:spcAft>
              <a:buClr>
                <a:schemeClr val="lt1"/>
              </a:buClr>
              <a:buFont typeface="Arial"/>
              <a:buNone/>
            </a:pPr>
            <a:r>
              <a:rPr lang="en" sz="1250">
                <a:solidFill>
                  <a:srgbClr val="23272A"/>
                </a:solidFill>
                <a:latin typeface="Comfortaa"/>
                <a:ea typeface="Comfortaa"/>
                <a:cs typeface="Comfortaa"/>
                <a:sym typeface="Comfortaa"/>
              </a:rPr>
              <a:t>Dataset understanding, validation design, leakage analysis, baseline evaluation support</a:t>
            </a:r>
            <a:endParaRPr sz="1250">
              <a:solidFill>
                <a:srgbClr val="FFFFFF"/>
              </a:solidFill>
              <a:latin typeface="Comfortaa"/>
              <a:ea typeface="Comfortaa"/>
              <a:cs typeface="Comfortaa"/>
              <a:sym typeface="Comfortaa"/>
            </a:endParaRPr>
          </a:p>
          <a:p>
            <a:pPr indent="0" lvl="0" marL="0" rtl="0" algn="ctr">
              <a:spcBef>
                <a:spcPts val="0"/>
              </a:spcBef>
              <a:spcAft>
                <a:spcPts val="0"/>
              </a:spcAft>
              <a:buNone/>
            </a:pPr>
            <a:r>
              <a:t/>
            </a:r>
            <a:endParaRPr sz="1250">
              <a:latin typeface="Comfortaa"/>
              <a:ea typeface="Comfortaa"/>
              <a:cs typeface="Comfortaa"/>
              <a:sym typeface="Comfortaa"/>
            </a:endParaRPr>
          </a:p>
        </p:txBody>
      </p:sp>
      <p:sp>
        <p:nvSpPr>
          <p:cNvPr id="499" name="Google Shape;499;p61"/>
          <p:cNvSpPr txBox="1"/>
          <p:nvPr>
            <p:ph idx="9" type="title"/>
          </p:nvPr>
        </p:nvSpPr>
        <p:spPr>
          <a:xfrm>
            <a:off x="4886650" y="1303953"/>
            <a:ext cx="1592100" cy="635400"/>
          </a:xfrm>
          <a:prstGeom prst="rect">
            <a:avLst/>
          </a:prstGeom>
        </p:spPr>
        <p:txBody>
          <a:bodyPr anchorCtr="0" anchor="t" bIns="122450" lIns="122450" spcFirstLastPara="1" rIns="122450" wrap="square" tIns="122450">
            <a:noAutofit/>
          </a:bodyPr>
          <a:lstStyle/>
          <a:p>
            <a:pPr indent="0" lvl="0" marL="0" rtl="0" algn="l">
              <a:spcBef>
                <a:spcPts val="0"/>
              </a:spcBef>
              <a:spcAft>
                <a:spcPts val="0"/>
              </a:spcAft>
              <a:buNone/>
            </a:pPr>
            <a:r>
              <a:rPr lang="en" sz="1740">
                <a:latin typeface="Google Sans Text"/>
                <a:ea typeface="Google Sans Text"/>
                <a:cs typeface="Google Sans Text"/>
                <a:sym typeface="Google Sans Text"/>
              </a:rPr>
              <a:t>Kinjal Choudhary</a:t>
            </a:r>
            <a:endParaRPr sz="1740">
              <a:latin typeface="Google Sans Text"/>
              <a:ea typeface="Google Sans Text"/>
              <a:cs typeface="Google Sans Text"/>
              <a:sym typeface="Google Sans Text"/>
            </a:endParaRPr>
          </a:p>
        </p:txBody>
      </p:sp>
      <p:sp>
        <p:nvSpPr>
          <p:cNvPr id="500" name="Google Shape;500;p61"/>
          <p:cNvSpPr txBox="1"/>
          <p:nvPr>
            <p:ph idx="13" type="body"/>
          </p:nvPr>
        </p:nvSpPr>
        <p:spPr>
          <a:xfrm>
            <a:off x="4886652" y="2301973"/>
            <a:ext cx="1556400" cy="2237700"/>
          </a:xfrm>
          <a:prstGeom prst="rect">
            <a:avLst/>
          </a:prstGeom>
        </p:spPr>
        <p:txBody>
          <a:bodyPr anchorCtr="0" anchor="t" bIns="122450" lIns="122450" spcFirstLastPara="1" rIns="122450" wrap="square" tIns="122450">
            <a:noAutofit/>
          </a:bodyPr>
          <a:lstStyle/>
          <a:p>
            <a:pPr indent="0" lvl="0" marL="0" rtl="0" algn="l">
              <a:lnSpc>
                <a:spcPct val="100000"/>
              </a:lnSpc>
              <a:spcBef>
                <a:spcPts val="0"/>
              </a:spcBef>
              <a:spcAft>
                <a:spcPts val="0"/>
              </a:spcAft>
              <a:buClr>
                <a:schemeClr val="lt1"/>
              </a:buClr>
              <a:buFont typeface="Arial"/>
              <a:buNone/>
            </a:pPr>
            <a:r>
              <a:rPr lang="en" sz="1250">
                <a:solidFill>
                  <a:srgbClr val="23272A"/>
                </a:solidFill>
                <a:latin typeface="Comfortaa"/>
                <a:ea typeface="Comfortaa"/>
                <a:cs typeface="Comfortaa"/>
                <a:sym typeface="Comfortaa"/>
              </a:rPr>
              <a:t>Turn-level feature engineering, gameplay aggregation, feature documentation</a:t>
            </a:r>
            <a:endParaRPr sz="1250">
              <a:latin typeface="Comfortaa"/>
              <a:ea typeface="Comfortaa"/>
              <a:cs typeface="Comfortaa"/>
              <a:sym typeface="Comfortaa"/>
            </a:endParaRPr>
          </a:p>
        </p:txBody>
      </p:sp>
      <p:sp>
        <p:nvSpPr>
          <p:cNvPr id="501" name="Google Shape;501;p61"/>
          <p:cNvSpPr txBox="1"/>
          <p:nvPr>
            <p:ph idx="16" type="title"/>
          </p:nvPr>
        </p:nvSpPr>
        <p:spPr>
          <a:xfrm>
            <a:off x="7068375" y="1303949"/>
            <a:ext cx="1592100" cy="484200"/>
          </a:xfrm>
          <a:prstGeom prst="rect">
            <a:avLst/>
          </a:prstGeom>
        </p:spPr>
        <p:txBody>
          <a:bodyPr anchorCtr="0" anchor="t" bIns="122450" lIns="122450" spcFirstLastPara="1" rIns="122450" wrap="square" tIns="122450">
            <a:noAutofit/>
          </a:bodyPr>
          <a:lstStyle/>
          <a:p>
            <a:pPr indent="0" lvl="0" marL="0" rtl="0" algn="l">
              <a:spcBef>
                <a:spcPts val="0"/>
              </a:spcBef>
              <a:spcAft>
                <a:spcPts val="0"/>
              </a:spcAft>
              <a:buNone/>
            </a:pPr>
            <a:r>
              <a:rPr lang="en" sz="1840">
                <a:latin typeface="Google Sans Text"/>
                <a:ea typeface="Google Sans Text"/>
                <a:cs typeface="Google Sans Text"/>
                <a:sym typeface="Google Sans Text"/>
              </a:rPr>
              <a:t>Ankit Vaniya </a:t>
            </a:r>
            <a:endParaRPr sz="1840">
              <a:latin typeface="Google Sans Text"/>
              <a:ea typeface="Google Sans Text"/>
              <a:cs typeface="Google Sans Text"/>
              <a:sym typeface="Google Sans Text"/>
            </a:endParaRPr>
          </a:p>
        </p:txBody>
      </p:sp>
      <p:sp>
        <p:nvSpPr>
          <p:cNvPr id="502" name="Google Shape;502;p61"/>
          <p:cNvSpPr txBox="1"/>
          <p:nvPr>
            <p:ph idx="17" type="body"/>
          </p:nvPr>
        </p:nvSpPr>
        <p:spPr>
          <a:xfrm>
            <a:off x="7068384" y="2301973"/>
            <a:ext cx="1556400" cy="2237700"/>
          </a:xfrm>
          <a:prstGeom prst="rect">
            <a:avLst/>
          </a:prstGeom>
        </p:spPr>
        <p:txBody>
          <a:bodyPr anchorCtr="0" anchor="t" bIns="122450" lIns="122450" spcFirstLastPara="1" rIns="122450" wrap="square" tIns="122450">
            <a:noAutofit/>
          </a:bodyPr>
          <a:lstStyle/>
          <a:p>
            <a:pPr indent="0" lvl="0" marL="0" rtl="0" algn="l">
              <a:lnSpc>
                <a:spcPct val="100000"/>
              </a:lnSpc>
              <a:spcBef>
                <a:spcPts val="0"/>
              </a:spcBef>
              <a:spcAft>
                <a:spcPts val="0"/>
              </a:spcAft>
              <a:buClr>
                <a:schemeClr val="lt1"/>
              </a:buClr>
              <a:buFont typeface="Arial"/>
              <a:buNone/>
            </a:pPr>
            <a:r>
              <a:rPr lang="en" sz="1250">
                <a:solidFill>
                  <a:srgbClr val="23272A"/>
                </a:solidFill>
                <a:latin typeface="Comfortaa"/>
                <a:ea typeface="Comfortaa"/>
                <a:cs typeface="Comfortaa"/>
                <a:sym typeface="Comfortaa"/>
              </a:rPr>
              <a:t>Metadata feature engineering, baseline model development, baseline result analysis</a:t>
            </a:r>
            <a:endParaRPr sz="1250">
              <a:solidFill>
                <a:srgbClr val="FFFFFF"/>
              </a:solidFill>
              <a:latin typeface="Comfortaa"/>
              <a:ea typeface="Comfortaa"/>
              <a:cs typeface="Comfortaa"/>
              <a:sym typeface="Comfortaa"/>
            </a:endParaRPr>
          </a:p>
          <a:p>
            <a:pPr indent="0" lvl="0" marL="0" rtl="0" algn="l">
              <a:spcBef>
                <a:spcPts val="0"/>
              </a:spcBef>
              <a:spcAft>
                <a:spcPts val="0"/>
              </a:spcAft>
              <a:buNone/>
            </a:pPr>
            <a:r>
              <a:t/>
            </a:r>
            <a:endParaRPr sz="1250">
              <a:latin typeface="Comfortaa"/>
              <a:ea typeface="Comfortaa"/>
              <a:cs typeface="Comfortaa"/>
              <a:sym typeface="Comfortaa"/>
            </a:endParaRPr>
          </a:p>
        </p:txBody>
      </p:sp>
      <p:cxnSp>
        <p:nvCxnSpPr>
          <p:cNvPr id="503" name="Google Shape;503;p61"/>
          <p:cNvCxnSpPr/>
          <p:nvPr/>
        </p:nvCxnSpPr>
        <p:spPr>
          <a:xfrm>
            <a:off x="225525" y="186775"/>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504" name="Google Shape;504;p61"/>
          <p:cNvCxnSpPr/>
          <p:nvPr/>
        </p:nvCxnSpPr>
        <p:spPr>
          <a:xfrm>
            <a:off x="285450" y="4913200"/>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2"/>
          <p:cNvSpPr txBox="1"/>
          <p:nvPr/>
        </p:nvSpPr>
        <p:spPr>
          <a:xfrm>
            <a:off x="2374200" y="1853050"/>
            <a:ext cx="4395600" cy="107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0">
                <a:solidFill>
                  <a:srgbClr val="00796B"/>
                </a:solidFill>
                <a:latin typeface="Comfortaa"/>
                <a:ea typeface="Comfortaa"/>
                <a:cs typeface="Comfortaa"/>
                <a:sym typeface="Comfortaa"/>
              </a:rPr>
              <a:t>Thank You</a:t>
            </a:r>
            <a:endParaRPr sz="6000">
              <a:solidFill>
                <a:srgbClr val="00796B"/>
              </a:solidFill>
              <a:latin typeface="Comfortaa"/>
              <a:ea typeface="Comfortaa"/>
              <a:cs typeface="Comfortaa"/>
              <a:sym typeface="Comfortaa"/>
            </a:endParaRPr>
          </a:p>
        </p:txBody>
      </p:sp>
      <p:cxnSp>
        <p:nvCxnSpPr>
          <p:cNvPr id="510" name="Google Shape;510;p62"/>
          <p:cNvCxnSpPr/>
          <p:nvPr/>
        </p:nvCxnSpPr>
        <p:spPr>
          <a:xfrm>
            <a:off x="442475" y="1705425"/>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511" name="Google Shape;511;p62"/>
          <p:cNvCxnSpPr/>
          <p:nvPr/>
        </p:nvCxnSpPr>
        <p:spPr>
          <a:xfrm>
            <a:off x="486400" y="2987750"/>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